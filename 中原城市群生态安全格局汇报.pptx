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67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62" r:id="rId4"/>
    <p:sldMasterId id="2147483664" r:id="rId5"/>
    <p:sldMasterId id="2147483666" r:id="rId6"/>
  </p:sldMasterIdLst>
  <p:notesMasterIdLst>
    <p:notesMasterId r:id="rId8"/>
  </p:notesMasterIdLst>
  <p:sldIdLst>
    <p:sldId id="256" r:id="rId12"/>
    <p:sldId id="257" r:id="rId13"/>
    <p:sldId id="258" r:id="rId14"/>
    <p:sldId id="259" r:id="rId15"/>
    <p:sldId id="260" r:id="rId16"/>
    <p:sldId id="261" r:id="rId17"/>
    <p:sldId id="262" r:id="rId18"/>
    <p:sldId id="263" r:id="rId19"/>
    <p:sldId id="264" r:id="rId20"/>
    <p:sldId id="265" r:id="rId21"/>
    <p:sldId id="266" r:id="rId22"/>
    <p:sldId id="267" r:id="rId23"/>
    <p:sldId id="268" r:id="rId11"/>
    <p:sldId id="269" r:id="rId10"/>
    <p:sldId id="270" r:id="rId9"/>
    <p:sldId id="271" r:id="rId7"/>
    <p:sldId id="272" r:id="rId28"/>
    <p:sldId id="273" r:id="rId29"/>
    <p:sldId id="274" r:id="rId30"/>
    <p:sldId id="275" r:id="rId31"/>
    <p:sldId id="276" r:id="rId32"/>
  </p:sldIdLst>
  <p:sldSz cx="12192000" cy="6858000"/>
  <p:notesSz cx="6858000" cy="9144000"/>
  <p:custDataLst>
    <p:tags r:id="rId2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showAnimation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373D1"/>
    <a:srgbClr val="067ACB"/>
    <a:srgbClr val="0373D0"/>
    <a:srgbClr val="0379DA"/>
    <a:srgbClr val="037ADC"/>
    <a:srgbClr val="4862F4"/>
    <a:srgbClr val="FFA100"/>
    <a:srgbClr val="FF5049"/>
    <a:srgbClr val="FE0C00"/>
    <a:srgbClr val="FF4C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319" autoAdjust="0"/>
    <p:restoredTop sz="94660"/>
  </p:normalViewPr>
  <p:slideViewPr>
    <p:cSldViewPr snapToGrid="0">
      <p:cViewPr>
        <p:scale>
          <a:sx n="25" d="100"/>
          <a:sy n="25" d="100"/>
        </p:scale>
        <p:origin x="2160" y="13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33" d="100"/>
        <a:sy n="33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" Target="slides/slide16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15.xml"/><Relationship Id="rId10" Type="http://schemas.openxmlformats.org/officeDocument/2006/relationships/slide" Target="slides/slide14.xml"/><Relationship Id="rId11" Type="http://schemas.openxmlformats.org/officeDocument/2006/relationships/slide" Target="slides/slide13.xml"/><Relationship Id="rId12" Type="http://schemas.openxmlformats.org/officeDocument/2006/relationships/slide" Target="slides/slide1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ableStyles" Target="tableStyles.xml"/><Relationship Id="rId27" Type="http://schemas.openxmlformats.org/officeDocument/2006/relationships/tags" Target="tags/tag167.xml"/><Relationship Id="rId28" Type="http://schemas.openxmlformats.org/officeDocument/2006/relationships/slide" Target="slides/slide17.xml"/><Relationship Id="rId29" Type="http://schemas.openxmlformats.org/officeDocument/2006/relationships/slide" Target="slides/slide18.xml"/><Relationship Id="rId30" Type="http://schemas.openxmlformats.org/officeDocument/2006/relationships/slide" Target="slides/slide19.xml"/><Relationship Id="rId31" Type="http://schemas.openxmlformats.org/officeDocument/2006/relationships/slide" Target="slides/slide20.xml"/><Relationship Id="rId32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字魂59号-创粗黑" panose="00000500000000000000" pitchFamily="2" charset="-122"/>
                <a:ea typeface="字魂59号-创粗黑" panose="00000500000000000000" pitchFamily="2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字魂59号-创粗黑" panose="00000500000000000000" pitchFamily="2" charset="-122"/>
                <a:ea typeface="字魂59号-创粗黑" panose="00000500000000000000" pitchFamily="2" charset="-122"/>
              </a:defRPr>
            </a:lvl1pPr>
          </a:lstStyle>
          <a:p>
            <a:fld id="{4FE5A037-BCD1-4D52-A534-7861AB4DAC00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字魂59号-创粗黑" panose="00000500000000000000" pitchFamily="2" charset="-122"/>
                <a:ea typeface="字魂59号-创粗黑" panose="00000500000000000000" pitchFamily="2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字魂59号-创粗黑" panose="00000500000000000000" pitchFamily="2" charset="-122"/>
                <a:ea typeface="字魂59号-创粗黑" panose="00000500000000000000" pitchFamily="2" charset="-122"/>
              </a:defRPr>
            </a:lvl1pPr>
          </a:lstStyle>
          <a:p>
            <a:fld id="{F5939E68-48CC-45C1-A51A-2ED1BA43CFBA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字魂59号-创粗黑" panose="00000500000000000000" pitchFamily="2" charset="-122"/>
        <a:ea typeface="字魂59号-创粗黑" panose="00000500000000000000" pitchFamily="2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字魂59号-创粗黑" panose="00000500000000000000" pitchFamily="2" charset="-122"/>
        <a:ea typeface="字魂59号-创粗黑" panose="00000500000000000000" pitchFamily="2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字魂59号-创粗黑" panose="00000500000000000000" pitchFamily="2" charset="-122"/>
        <a:ea typeface="字魂59号-创粗黑" panose="00000500000000000000" pitchFamily="2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字魂59号-创粗黑" panose="00000500000000000000" pitchFamily="2" charset="-122"/>
        <a:ea typeface="字魂59号-创粗黑" panose="00000500000000000000" pitchFamily="2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字魂59号-创粗黑" panose="00000500000000000000" pitchFamily="2" charset="-122"/>
        <a:ea typeface="字魂59号-创粗黑" panose="00000500000000000000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1.xml"/><Relationship Id="rId3" Type="http://schemas.openxmlformats.org/officeDocument/2006/relationships/tags" Target="../tags/tag2.xml"/><Relationship Id="rId4" Type="http://schemas.openxmlformats.org/officeDocument/2006/relationships/tags" Target="../tags/tag3.xml"/><Relationship Id="rId5" Type="http://schemas.openxmlformats.org/officeDocument/2006/relationships/tags" Target="../tags/tag4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tags" Target="../tags/tag11.xml"/><Relationship Id="rId3" Type="http://schemas.openxmlformats.org/officeDocument/2006/relationships/tags" Target="../tags/tag12.xml"/><Relationship Id="rId4" Type="http://schemas.openxmlformats.org/officeDocument/2006/relationships/tags" Target="../tags/tag13.xml"/><Relationship Id="rId5" Type="http://schemas.openxmlformats.org/officeDocument/2006/relationships/tags" Target="../tags/tag14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tags" Target="../tags/tag21.xml"/><Relationship Id="rId3" Type="http://schemas.openxmlformats.org/officeDocument/2006/relationships/tags" Target="../tags/tag22.xml"/><Relationship Id="rId4" Type="http://schemas.openxmlformats.org/officeDocument/2006/relationships/tags" Target="../tags/tag23.xml"/><Relationship Id="rId5" Type="http://schemas.openxmlformats.org/officeDocument/2006/relationships/tags" Target="../tags/tag24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tags" Target="../tags/tag31.xml"/><Relationship Id="rId3" Type="http://schemas.openxmlformats.org/officeDocument/2006/relationships/tags" Target="../tags/tag32.xml"/><Relationship Id="rId4" Type="http://schemas.openxmlformats.org/officeDocument/2006/relationships/tags" Target="../tags/tag33.xml"/><Relationship Id="rId5" Type="http://schemas.openxmlformats.org/officeDocument/2006/relationships/tags" Target="../tags/tag34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tags" Target="../tags/tag35.xml"/><Relationship Id="rId3" Type="http://schemas.openxmlformats.org/officeDocument/2006/relationships/tags" Target="../tags/tag36.xml"/><Relationship Id="rId4" Type="http://schemas.openxmlformats.org/officeDocument/2006/relationships/tags" Target="../tags/tag37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tags" Target="../tags/tag38.xml"/><Relationship Id="rId3" Type="http://schemas.openxmlformats.org/officeDocument/2006/relationships/tags" Target="../tags/tag39.xml"/><Relationship Id="rId4" Type="http://schemas.openxmlformats.org/officeDocument/2006/relationships/tags" Target="../tags/tag40.xml"/><Relationship Id="rId5" Type="http://schemas.openxmlformats.org/officeDocument/2006/relationships/tags" Target="../tags/tag41.xml"/><Relationship Id="rId6" Type="http://schemas.openxmlformats.org/officeDocument/2006/relationships/tags" Target="../tags/tag4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/>
    </mc:Choice>
    <mc:Fallback>
      <p:transition spd="slow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/>
    </mc:Choice>
    <mc:Fallback>
      <p:transition spd="slow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/>
    </mc:Choice>
    <mc:Fallback>
      <p:transition spd="slow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/>
    </mc:Choice>
    <mc:Fallback>
      <p:transition spd="slow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/>
    </mc:Choice>
    <mc:Fallback>
      <p:transition spd="slow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/>
    </mc:Choice>
    <mc:Fallback>
      <p:transition spd="slow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ain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/>
    </mc:Choice>
    <mc:Fallback>
      <p:transition spd="slow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 1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/>
    </mc:Choice>
    <mc:Fallback>
      <p:transition spd="slow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/>
    </mc:Choice>
    <mc:Fallback>
      <p:transition spd="slow"/>
    </mc:Fallback>
  </mc:AlternateContent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/>
    </mc:Choice>
    <mc:Fallback>
      <p:transition spd="slow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/>
    </mc:Choice>
    <mc:Fallback>
      <p:transition spd="slow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96000" y="394405"/>
            <a:ext cx="10800000" cy="792000"/>
          </a:xfrm>
        </p:spPr>
        <p:txBody>
          <a:bodyPr/>
          <a:lstStyle>
            <a:lvl1pPr algn="ctr">
              <a:defRPr sz="320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标题 5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09600" y="1448376"/>
            <a:ext cx="10972800" cy="405765"/>
          </a:xfrm>
        </p:spPr>
        <p:txBody>
          <a:bodyPr wrap="square" anchor="ctr" anchorCtr="0">
            <a:normAutofit/>
          </a:bodyPr>
          <a:lstStyle>
            <a:lvl1pPr marL="0" indent="0" algn="l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ags" Target="../tags/tag5.xml"/><Relationship Id="rId3" Type="http://schemas.openxmlformats.org/officeDocument/2006/relationships/tags" Target="../tags/tag6.xml"/><Relationship Id="rId4" Type="http://schemas.openxmlformats.org/officeDocument/2006/relationships/tags" Target="../tags/tag7.xml"/><Relationship Id="rId5" Type="http://schemas.openxmlformats.org/officeDocument/2006/relationships/tags" Target="../tags/tag8.xml"/><Relationship Id="rId6" Type="http://schemas.openxmlformats.org/officeDocument/2006/relationships/tags" Target="../tags/tag9.xml"/><Relationship Id="rId7" Type="http://schemas.openxmlformats.org/officeDocument/2006/relationships/tags" Target="../tags/tag10.xml"/><Relationship Id="rId8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tags" Target="../tags/tag15.xml"/><Relationship Id="rId3" Type="http://schemas.openxmlformats.org/officeDocument/2006/relationships/tags" Target="../tags/tag16.xml"/><Relationship Id="rId4" Type="http://schemas.openxmlformats.org/officeDocument/2006/relationships/tags" Target="../tags/tag17.xml"/><Relationship Id="rId5" Type="http://schemas.openxmlformats.org/officeDocument/2006/relationships/tags" Target="../tags/tag18.xml"/><Relationship Id="rId6" Type="http://schemas.openxmlformats.org/officeDocument/2006/relationships/tags" Target="../tags/tag19.xml"/><Relationship Id="rId7" Type="http://schemas.openxmlformats.org/officeDocument/2006/relationships/tags" Target="../tags/tag20.xml"/><Relationship Id="rId8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tags" Target="../tags/tag25.xml"/><Relationship Id="rId3" Type="http://schemas.openxmlformats.org/officeDocument/2006/relationships/tags" Target="../tags/tag26.xml"/><Relationship Id="rId4" Type="http://schemas.openxmlformats.org/officeDocument/2006/relationships/tags" Target="../tags/tag27.xml"/><Relationship Id="rId5" Type="http://schemas.openxmlformats.org/officeDocument/2006/relationships/tags" Target="../tags/tag28.xml"/><Relationship Id="rId6" Type="http://schemas.openxmlformats.org/officeDocument/2006/relationships/tags" Target="../tags/tag29.xml"/><Relationship Id="rId7" Type="http://schemas.openxmlformats.org/officeDocument/2006/relationships/tags" Target="../tags/tag30.xml"/><Relationship Id="rId8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7.xml"/><Relationship Id="rId4" Type="http://schemas.openxmlformats.org/officeDocument/2006/relationships/tags" Target="../tags/tag43.xml"/><Relationship Id="rId5" Type="http://schemas.openxmlformats.org/officeDocument/2006/relationships/tags" Target="../tags/tag44.xml"/><Relationship Id="rId6" Type="http://schemas.openxmlformats.org/officeDocument/2006/relationships/tags" Target="../tags/tag45.xml"/><Relationship Id="rId7" Type="http://schemas.openxmlformats.org/officeDocument/2006/relationships/tags" Target="../tags/tag46.xml"/><Relationship Id="rId8" Type="http://schemas.openxmlformats.org/officeDocument/2006/relationships/tags" Target="../tags/tag47.xml"/><Relationship Id="rId9" Type="http://schemas.openxmlformats.org/officeDocument/2006/relationships/tags" Target="../tags/tag48.xml"/><Relationship Id="rId10" Type="http://schemas.openxmlformats.org/officeDocument/2006/relationships/theme" Target="../theme/theme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 userDrawn="1"/>
        </p:nvSpPr>
        <p:spPr>
          <a:xfrm>
            <a:off x="4318000" y="2971800"/>
            <a:ext cx="355600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00" dirty="0">
                <a:solidFill>
                  <a:schemeClr val="bg1">
                    <a:alpha val="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  <a:sym typeface="+mn-ea"/>
              </a:rPr>
              <a:t>感谢您下载包图网平台上提供的</a:t>
            </a:r>
            <a:r>
              <a:rPr lang="en-US" altLang="zh-CN" sz="300" dirty="0">
                <a:solidFill>
                  <a:schemeClr val="bg1">
                    <a:alpha val="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  <a:sym typeface="+mn-ea"/>
              </a:rPr>
              <a:t>PPT</a:t>
            </a:r>
            <a:r>
              <a:rPr lang="zh-CN" altLang="en-US" sz="300" dirty="0">
                <a:solidFill>
                  <a:schemeClr val="bg1">
                    <a:alpha val="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  <a:sym typeface="+mn-ea"/>
              </a:rPr>
              <a:t>作品，为了您和包图网以及原创作者的利益，请勿复制、传播、销售，否则将承担法律责任！包图网将对作品进行维权，按照传播下载次数进行十倍的索取赔偿！</a:t>
            </a:r>
            <a:endParaRPr lang="zh-CN" altLang="en-US" sz="300" dirty="0">
              <a:solidFill>
                <a:schemeClr val="bg1">
                  <a:alpha val="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  <a:sym typeface="+mn-ea"/>
            </a:endParaRPr>
          </a:p>
          <a:p>
            <a:r>
              <a:rPr lang="en-US" altLang="zh-CN" sz="600" dirty="0">
                <a:solidFill>
                  <a:schemeClr val="bg1">
                    <a:alpha val="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  <a:sym typeface="+mn-ea"/>
              </a:rPr>
              <a:t>ibaotu.com</a:t>
            </a:r>
            <a:endParaRPr lang="en-US" altLang="zh-CN" sz="600" dirty="0">
              <a:solidFill>
                <a:schemeClr val="bg1">
                  <a:alpha val="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  <a:sym typeface="+mn-ea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slow" p14:dur="1750"/>
    </mc:Choice>
    <mc:Fallback>
      <p:transition spd="slow"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4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5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6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7" name="KSO_TEMPLATE" hidden="1"/>
          <p:cNvSpPr/>
          <p:nvPr userDrawn="1">
            <p:custDataLst>
              <p:tags r:id="rId7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>
            <p:custDataLst>
              <p:tags r:id="rId7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ea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ea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ea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ea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>
            <p:custDataLst>
              <p:tags r:id="rId7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ea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ea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ea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ea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>
          <a:xfrm>
            <a:off x="609599" y="1676399"/>
            <a:ext cx="10972799" cy="457136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09600" y="608400"/>
            <a:ext cx="10972800" cy="7632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6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7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8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8" name="KSO_TEMPLATE" hidden="1"/>
          <p:cNvSpPr/>
          <p:nvPr userDrawn="1">
            <p:custDataLst>
              <p:tags r:id="rId9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1"/>
          </a:solidFill>
          <a:latin typeface="微软雅黑" panose="020B0503020204020204" charset="-122"/>
          <a:ea typeface="+mj-ea"/>
          <a:cs typeface="微软雅黑" panose="020B0503020204020204" charset="-122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+mn-ea"/>
          <a:cs typeface="微软雅黑" panose="020B0503020204020204" charset="-122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微软雅黑" panose="020B0503020204020204" charset="-122"/>
          <a:ea typeface="+mn-ea"/>
          <a:cs typeface="微软雅黑" panose="020B0503020204020204" charset="-122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微软雅黑" panose="020B0503020204020204" charset="-122"/>
          <a:ea typeface="+mn-ea"/>
          <a:cs typeface="微软雅黑" panose="020B0503020204020204" charset="-122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微软雅黑" panose="020B0503020204020204" charset="-122"/>
          <a:ea typeface="+mn-ea"/>
          <a:cs typeface="微软雅黑" panose="020B0503020204020204" charset="-122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微软雅黑" panose="020B0503020204020204" charset="-122"/>
          <a:ea typeface="+mn-ea"/>
          <a:cs typeface="微软雅黑" panose="020B0503020204020204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1.jpeg"/>
          <p:cNvPicPr>
            <a:picLocks noChangeAspect="1"/>
          </p:cNvPicPr>
          <p:nvPr/>
        </p:nvPicPr>
        <p:blipFill>
          <a:blip r:embed="rId2"/>
          <a:srcRect l="12400" r="12400"/>
          <a:stretch>
            <a:fillRect/>
          </a:stretch>
        </p:blipFill>
        <p:spPr>
          <a:xfrm>
            <a:off x="8321040" y="0"/>
            <a:ext cx="386791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065008" y="0"/>
            <a:ext cx="329184" cy="6858000"/>
          </a:xfrm>
          <a:prstGeom prst="rect">
            <a:avLst/>
          </a:prstGeom>
          <a:solidFill>
            <a:srgbClr val="006CBC"/>
          </a:solidFill>
          <a:ln>
            <a:solidFill>
              <a:srgbClr val="006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02336"/>
            <a:ext cx="2148840" cy="58604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1847088"/>
            <a:ext cx="7059168" cy="1417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900" b="1">
                <a:solidFill>
                  <a:srgbClr val="273645"/>
                </a:solidFill>
                <a:latin typeface="Microsoft YaHei"/>
              </a:rPr>
              <a:t>中原城市群建成区变迁与</a:t>
            </a:r>
            <a:br/>
            <a:r>
              <a:t>景观生态安全格局演变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3474720"/>
            <a:ext cx="1051560" cy="54864"/>
          </a:xfrm>
          <a:prstGeom prst="rect">
            <a:avLst/>
          </a:prstGeom>
          <a:solidFill>
            <a:srgbClr val="006CBC"/>
          </a:solidFill>
          <a:ln>
            <a:solidFill>
              <a:srgbClr val="006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3504" y="3712463"/>
            <a:ext cx="726948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67727C"/>
                </a:solidFill>
                <a:latin typeface="Microsoft YaHei"/>
              </a:rPr>
              <a:t>Urban built-up expansion and ecological security network evolution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4828032"/>
            <a:ext cx="73152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006CBC"/>
                </a:solidFill>
                <a:latin typeface="Microsoft YaHei"/>
              </a:rPr>
              <a:t>汇报人：张国利    指导老师：王伟（副教授）    时间：2026.10.15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5285232"/>
            <a:ext cx="713232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273645"/>
                </a:solidFill>
                <a:latin typeface="Microsoft YaHei"/>
              </a:rPr>
              <a:t>基于 NPP-VIIRS、POI、土地利用与社会经济数据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CBC"/>
          </a:solidFill>
          <a:ln>
            <a:solidFill>
              <a:srgbClr val="006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237744"/>
            <a:ext cx="886968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006CBC"/>
                </a:solidFill>
                <a:latin typeface="Microsoft YaHei"/>
              </a:rPr>
              <a:t>目录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04088"/>
            <a:ext cx="80467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7727C"/>
                </a:solidFill>
                <a:latin typeface="Microsoft YaHei"/>
              </a:rPr>
              <a:t>CONTENTS</a:t>
            </a:r>
          </a:p>
        </p:txBody>
      </p:sp>
      <p:pic>
        <p:nvPicPr>
          <p:cNvPr id="5" name="Picture 4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5248" y="164592"/>
            <a:ext cx="1572768" cy="42893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75488" y="987552"/>
            <a:ext cx="11155680" cy="22860"/>
          </a:xfrm>
          <a:prstGeom prst="rect">
            <a:avLst/>
          </a:prstGeom>
          <a:solidFill>
            <a:srgbClr val="D7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65408" y="6446520"/>
            <a:ext cx="502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92A0AC"/>
                </a:solidFill>
                <a:latin typeface="Microsoft YaHei"/>
              </a:rP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686032" y="6327648"/>
            <a:ext cx="502920" cy="530352"/>
          </a:xfrm>
          <a:prstGeom prst="roundRect">
            <a:avLst/>
          </a:prstGeom>
          <a:solidFill>
            <a:srgbClr val="006CBC"/>
          </a:solidFill>
          <a:ln>
            <a:solidFill>
              <a:srgbClr val="006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58952" y="1417320"/>
            <a:ext cx="713232" cy="713232"/>
          </a:xfrm>
          <a:prstGeom prst="roundRect">
            <a:avLst/>
          </a:prstGeom>
          <a:solidFill>
            <a:srgbClr val="006CBC"/>
          </a:solidFill>
          <a:ln>
            <a:solidFill>
              <a:srgbClr val="006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545336"/>
            <a:ext cx="71323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>
                <a:solidFill>
                  <a:srgbClr val="FFFFFF"/>
                </a:solidFill>
                <a:latin typeface="Microsoft YaHe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1545336"/>
            <a:ext cx="475488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>
                <a:solidFill>
                  <a:srgbClr val="273645"/>
                </a:solidFill>
                <a:latin typeface="Microsoft YaHei"/>
              </a:rPr>
              <a:t>研究背景与意义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12280" y="1709928"/>
            <a:ext cx="4343400" cy="27432"/>
          </a:xfrm>
          <a:prstGeom prst="rect">
            <a:avLst/>
          </a:prstGeom>
          <a:solidFill>
            <a:srgbClr val="D8E4ED"/>
          </a:solidFill>
          <a:ln>
            <a:solidFill>
              <a:srgbClr val="D8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58952" y="2587752"/>
            <a:ext cx="713232" cy="713232"/>
          </a:xfrm>
          <a:prstGeom prst="roundRect">
            <a:avLst/>
          </a:prstGeom>
          <a:solidFill>
            <a:srgbClr val="006CBC"/>
          </a:solidFill>
          <a:ln>
            <a:solidFill>
              <a:srgbClr val="006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" y="2715768"/>
            <a:ext cx="71323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>
                <a:solidFill>
                  <a:srgbClr val="FFFFFF"/>
                </a:solidFill>
                <a:latin typeface="Microsoft YaHe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2715768"/>
            <a:ext cx="475488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>
                <a:solidFill>
                  <a:srgbClr val="273645"/>
                </a:solidFill>
                <a:latin typeface="Microsoft YaHei"/>
              </a:rPr>
              <a:t>研究数据与方法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12280" y="2880360"/>
            <a:ext cx="4343400" cy="27432"/>
          </a:xfrm>
          <a:prstGeom prst="rect">
            <a:avLst/>
          </a:prstGeom>
          <a:solidFill>
            <a:srgbClr val="D8E4ED"/>
          </a:solidFill>
          <a:ln>
            <a:solidFill>
              <a:srgbClr val="D8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58952" y="3758184"/>
            <a:ext cx="713232" cy="713232"/>
          </a:xfrm>
          <a:prstGeom prst="roundRect">
            <a:avLst/>
          </a:prstGeom>
          <a:solidFill>
            <a:srgbClr val="006CBC"/>
          </a:solidFill>
          <a:ln>
            <a:solidFill>
              <a:srgbClr val="006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952" y="3886200"/>
            <a:ext cx="71323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>
                <a:solidFill>
                  <a:srgbClr val="FFFFFF"/>
                </a:solidFill>
                <a:latin typeface="Microsoft YaHe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83080" y="3886200"/>
            <a:ext cx="475488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>
                <a:solidFill>
                  <a:srgbClr val="273645"/>
                </a:solidFill>
                <a:latin typeface="Microsoft YaHei"/>
              </a:rPr>
              <a:t>研究结果与发现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12280" y="4050792"/>
            <a:ext cx="4343400" cy="27432"/>
          </a:xfrm>
          <a:prstGeom prst="rect">
            <a:avLst/>
          </a:prstGeom>
          <a:solidFill>
            <a:srgbClr val="D8E4ED"/>
          </a:solidFill>
          <a:ln>
            <a:solidFill>
              <a:srgbClr val="D8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58952" y="4928616"/>
            <a:ext cx="713232" cy="713232"/>
          </a:xfrm>
          <a:prstGeom prst="roundRect">
            <a:avLst/>
          </a:prstGeom>
          <a:solidFill>
            <a:srgbClr val="00B8A4"/>
          </a:solidFill>
          <a:ln>
            <a:solidFill>
              <a:srgbClr val="00B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8952" y="5056631"/>
            <a:ext cx="71323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>
                <a:solidFill>
                  <a:srgbClr val="FFFFFF"/>
                </a:solidFill>
                <a:latin typeface="Microsoft YaHei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83080" y="5056631"/>
            <a:ext cx="475488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>
                <a:solidFill>
                  <a:srgbClr val="273645"/>
                </a:solidFill>
                <a:latin typeface="Microsoft YaHei"/>
              </a:rPr>
              <a:t>研究结论与展望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12280" y="5221224"/>
            <a:ext cx="4343400" cy="27432"/>
          </a:xfrm>
          <a:prstGeom prst="rect">
            <a:avLst/>
          </a:prstGeom>
          <a:solidFill>
            <a:srgbClr val="D8E4ED"/>
          </a:solidFill>
          <a:ln>
            <a:solidFill>
              <a:srgbClr val="D8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3.jpeg"/>
          <p:cNvPicPr>
            <a:picLocks noChangeAspect="1"/>
          </p:cNvPicPr>
          <p:nvPr/>
        </p:nvPicPr>
        <p:blipFill>
          <a:blip r:embed="rId2"/>
          <a:srcRect l="4222" r="4222"/>
          <a:stretch>
            <a:fillRect/>
          </a:stretch>
        </p:blipFill>
        <p:spPr>
          <a:xfrm>
            <a:off x="0" y="0"/>
            <a:ext cx="470916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407408" y="0"/>
            <a:ext cx="301752" cy="6858000"/>
          </a:xfrm>
          <a:prstGeom prst="rect">
            <a:avLst/>
          </a:prstGeom>
          <a:solidFill>
            <a:srgbClr val="006CBC"/>
          </a:solidFill>
          <a:ln>
            <a:solidFill>
              <a:srgbClr val="006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0" y="1508760"/>
            <a:ext cx="18288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006CBC"/>
                </a:solidFill>
                <a:latin typeface="Microsoft YaHei"/>
              </a:rPr>
              <a:t>PART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49824" y="1938528"/>
            <a:ext cx="2011680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800" b="1">
                <a:solidFill>
                  <a:srgbClr val="273645"/>
                </a:solidFill>
                <a:latin typeface="Microsoft YaHe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971800"/>
            <a:ext cx="50292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900" b="1">
                <a:solidFill>
                  <a:srgbClr val="273645"/>
                </a:solidFill>
                <a:latin typeface="Microsoft YaHei"/>
              </a:rPr>
              <a:t>研究背景与意义</a:t>
            </a:r>
          </a:p>
        </p:txBody>
      </p:sp>
      <p:sp>
        <p:nvSpPr>
          <p:cNvPr id="7" name="Rectangle 6"/>
          <p:cNvSpPr/>
          <p:nvPr/>
        </p:nvSpPr>
        <p:spPr>
          <a:xfrm>
            <a:off x="5504688" y="3776472"/>
            <a:ext cx="914400" cy="45720"/>
          </a:xfrm>
          <a:prstGeom prst="rect">
            <a:avLst/>
          </a:prstGeom>
          <a:solidFill>
            <a:srgbClr val="006CBC"/>
          </a:solidFill>
          <a:ln>
            <a:solidFill>
              <a:srgbClr val="006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04688" y="4041648"/>
            <a:ext cx="530352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>
                <a:solidFill>
                  <a:srgbClr val="67727C"/>
                </a:solidFill>
                <a:latin typeface="Microsoft YaHei"/>
              </a:rPr>
              <a:t>从城市扩张与生态网络的非同步演变出发</a:t>
            </a:r>
          </a:p>
        </p:txBody>
      </p:sp>
      <p:pic>
        <p:nvPicPr>
          <p:cNvPr id="9" name="Picture 8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5248" y="164592"/>
            <a:ext cx="1572768" cy="4289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CBC"/>
          </a:solidFill>
          <a:ln>
            <a:solidFill>
              <a:srgbClr val="006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237744"/>
            <a:ext cx="886968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006CBC"/>
                </a:solidFill>
                <a:latin typeface="Microsoft YaHei"/>
              </a:rPr>
              <a:t>为什么研究中原城市群？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04088"/>
            <a:ext cx="80467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7727C"/>
                </a:solidFill>
                <a:latin typeface="Microsoft YaHei"/>
              </a:rPr>
              <a:t>研究背景与核心问题</a:t>
            </a:r>
          </a:p>
        </p:txBody>
      </p:sp>
      <p:pic>
        <p:nvPicPr>
          <p:cNvPr id="5" name="Picture 4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5248" y="164592"/>
            <a:ext cx="1572768" cy="42893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75488" y="987552"/>
            <a:ext cx="11155680" cy="22860"/>
          </a:xfrm>
          <a:prstGeom prst="rect">
            <a:avLst/>
          </a:prstGeom>
          <a:solidFill>
            <a:srgbClr val="D7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65408" y="6446520"/>
            <a:ext cx="502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92A0AC"/>
                </a:solidFill>
                <a:latin typeface="Microsoft YaHei"/>
              </a:rP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686032" y="6327648"/>
            <a:ext cx="502920" cy="530352"/>
          </a:xfrm>
          <a:prstGeom prst="roundRect">
            <a:avLst/>
          </a:prstGeom>
          <a:solidFill>
            <a:srgbClr val="006CBC"/>
          </a:solidFill>
          <a:ln>
            <a:solidFill>
              <a:srgbClr val="006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280160"/>
            <a:ext cx="33832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9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94360" y="1280160"/>
            <a:ext cx="91440" cy="1508760"/>
          </a:xfrm>
          <a:prstGeom prst="roundRect">
            <a:avLst/>
          </a:prstGeom>
          <a:solidFill>
            <a:srgbClr val="006CBC"/>
          </a:solidFill>
          <a:ln>
            <a:solidFill>
              <a:srgbClr val="006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1435607"/>
            <a:ext cx="294436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006CBC"/>
                </a:solidFill>
                <a:latin typeface="Microsoft YaHei"/>
              </a:rPr>
              <a:t>区域矛盾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1837943"/>
            <a:ext cx="2944368" cy="82295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80" b="0">
                <a:solidFill>
                  <a:srgbClr val="273645"/>
                </a:solidFill>
                <a:latin typeface="Microsoft YaHei"/>
              </a:rPr>
              <a:t>高强度开发平原与外围山地生态屏障并置，城市增长与生态保护压力叠加。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017520"/>
            <a:ext cx="33832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9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94360" y="3017520"/>
            <a:ext cx="91440" cy="1508760"/>
          </a:xfrm>
          <a:prstGeom prst="roundRect">
            <a:avLst/>
          </a:prstGeom>
          <a:solidFill>
            <a:srgbClr val="00B8A4"/>
          </a:solidFill>
          <a:ln>
            <a:solidFill>
              <a:srgbClr val="00B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" y="3172968"/>
            <a:ext cx="294436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00B8A4"/>
                </a:solidFill>
                <a:latin typeface="Microsoft YaHei"/>
              </a:rPr>
              <a:t>研究缺口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3575303"/>
            <a:ext cx="2944368" cy="82295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80" b="0">
                <a:solidFill>
                  <a:srgbClr val="273645"/>
                </a:solidFill>
                <a:latin typeface="Microsoft YaHei"/>
              </a:rPr>
              <a:t>现有研究多分开处理建成区与生态网络，缺少统一时间序列的空间耦合分析。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4754880"/>
            <a:ext cx="33832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9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94360" y="4754880"/>
            <a:ext cx="91440" cy="1234440"/>
          </a:xfrm>
          <a:prstGeom prst="roundRect">
            <a:avLst/>
          </a:prstGeom>
          <a:solidFill>
            <a:srgbClr val="F28E2B"/>
          </a:solidFill>
          <a:ln>
            <a:solidFill>
              <a:srgbClr val="F28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" y="4910328"/>
            <a:ext cx="294436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F28E2B"/>
                </a:solidFill>
                <a:latin typeface="Microsoft YaHei"/>
              </a:rPr>
              <a:t>风险判断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5312664"/>
            <a:ext cx="2944368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19" b="0">
                <a:solidFill>
                  <a:srgbClr val="273645"/>
                </a:solidFill>
                <a:latin typeface="Microsoft YaHei"/>
              </a:rPr>
              <a:t>仅比较面积或几何相交，难以识别廊道邻近开发造成的缓冲空间压缩。</a:t>
            </a:r>
          </a:p>
        </p:txBody>
      </p:sp>
      <p:pic>
        <p:nvPicPr>
          <p:cNvPr id="21" name="Picture 20" descr="image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5968" y="1321699"/>
            <a:ext cx="7059168" cy="4991840"/>
          </a:xfrm>
          <a:prstGeom prst="rect">
            <a:avLst/>
          </a:prstGeom>
          <a:ln w="10160">
            <a:solidFill>
              <a:srgbClr val="D5DFE8"/>
            </a:solidFill>
          </a:ln>
        </p:spPr>
      </p:pic>
      <p:sp>
        <p:nvSpPr>
          <p:cNvPr id="22" name="TextBox 21"/>
          <p:cNvSpPr txBox="1"/>
          <p:nvPr/>
        </p:nvSpPr>
        <p:spPr>
          <a:xfrm>
            <a:off x="4498848" y="6053328"/>
            <a:ext cx="66294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006CBC"/>
                </a:solidFill>
                <a:latin typeface="Microsoft YaHei"/>
              </a:rPr>
              <a:t>核心问题：建成区如何变化？生态网络如何响应？二者在哪里发生潜在冲突？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CBC"/>
          </a:solidFill>
          <a:ln>
            <a:solidFill>
              <a:srgbClr val="006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237744"/>
            <a:ext cx="886968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006CBC"/>
                </a:solidFill>
                <a:latin typeface="Microsoft YaHei"/>
              </a:rPr>
              <a:t>研究目标与贡献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04088"/>
            <a:ext cx="80467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7727C"/>
                </a:solidFill>
                <a:latin typeface="Microsoft YaHei"/>
              </a:rPr>
              <a:t>构建“识别—网络—关联—优化”的统一分析框架</a:t>
            </a:r>
          </a:p>
        </p:txBody>
      </p:sp>
      <p:pic>
        <p:nvPicPr>
          <p:cNvPr id="5" name="Picture 4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5248" y="164592"/>
            <a:ext cx="1572768" cy="42893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75488" y="987552"/>
            <a:ext cx="11155680" cy="22860"/>
          </a:xfrm>
          <a:prstGeom prst="rect">
            <a:avLst/>
          </a:prstGeom>
          <a:solidFill>
            <a:srgbClr val="D7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65408" y="6446520"/>
            <a:ext cx="502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92A0AC"/>
                </a:solidFill>
                <a:latin typeface="Microsoft YaHei"/>
              </a:rP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686032" y="6327648"/>
            <a:ext cx="502920" cy="530352"/>
          </a:xfrm>
          <a:prstGeom prst="roundRect">
            <a:avLst/>
          </a:prstGeom>
          <a:solidFill>
            <a:srgbClr val="006CBC"/>
          </a:solidFill>
          <a:ln>
            <a:solidFill>
              <a:srgbClr val="006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67512" y="1417320"/>
            <a:ext cx="3401568" cy="2880360"/>
          </a:xfrm>
          <a:prstGeom prst="roundRect">
            <a:avLst/>
          </a:prstGeom>
          <a:solidFill>
            <a:srgbClr val="F3F7FB"/>
          </a:solidFill>
          <a:ln>
            <a:solidFill>
              <a:srgbClr val="D8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23544" y="1664208"/>
            <a:ext cx="603504" cy="603504"/>
          </a:xfrm>
          <a:prstGeom prst="roundRect">
            <a:avLst/>
          </a:prstGeom>
          <a:solidFill>
            <a:srgbClr val="006CBC"/>
          </a:solidFill>
          <a:ln>
            <a:solidFill>
              <a:srgbClr val="006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3544" y="1810512"/>
            <a:ext cx="603504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" y="2450592"/>
            <a:ext cx="28346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273645"/>
                </a:solidFill>
                <a:latin typeface="Microsoft YaHei"/>
              </a:rPr>
              <a:t>识别城市扩张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907792"/>
            <a:ext cx="2834640" cy="10241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7727C"/>
                </a:solidFill>
                <a:latin typeface="Microsoft YaHei"/>
              </a:rPr>
              <a:t>提取2012、2016、2020、2024年建成区，比较扩张速度、强度与重心迁移。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1417320"/>
            <a:ext cx="3401568" cy="2880360"/>
          </a:xfrm>
          <a:prstGeom prst="roundRect">
            <a:avLst/>
          </a:prstGeom>
          <a:solidFill>
            <a:srgbClr val="F3F7FB"/>
          </a:solidFill>
          <a:ln>
            <a:solidFill>
              <a:srgbClr val="D8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690872" y="1664208"/>
            <a:ext cx="603504" cy="603504"/>
          </a:xfrm>
          <a:prstGeom prst="roundRect">
            <a:avLst/>
          </a:prstGeom>
          <a:solidFill>
            <a:srgbClr val="00B8A4"/>
          </a:solidFill>
          <a:ln>
            <a:solidFill>
              <a:srgbClr val="00B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90872" y="1810512"/>
            <a:ext cx="603504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90872" y="2450592"/>
            <a:ext cx="28346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273645"/>
                </a:solidFill>
                <a:latin typeface="Microsoft YaHei"/>
              </a:rPr>
              <a:t>重建生态网络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90872" y="2907792"/>
            <a:ext cx="2834640" cy="10241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7727C"/>
                </a:solidFill>
                <a:latin typeface="Microsoft YaHei"/>
              </a:rPr>
              <a:t>基于MSPA、MCR与电路理论识别源地、廊道、障碍点和修复区。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02168" y="1417320"/>
            <a:ext cx="3401568" cy="2880360"/>
          </a:xfrm>
          <a:prstGeom prst="roundRect">
            <a:avLst/>
          </a:prstGeom>
          <a:solidFill>
            <a:srgbClr val="F3F7FB"/>
          </a:solidFill>
          <a:ln>
            <a:solidFill>
              <a:srgbClr val="D8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458200" y="1664208"/>
            <a:ext cx="603504" cy="603504"/>
          </a:xfrm>
          <a:prstGeom prst="roundRect">
            <a:avLst/>
          </a:prstGeom>
          <a:solidFill>
            <a:srgbClr val="F28E2B"/>
          </a:solidFill>
          <a:ln>
            <a:solidFill>
              <a:srgbClr val="F28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58200" y="1810512"/>
            <a:ext cx="603504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450592"/>
            <a:ext cx="28346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273645"/>
                </a:solidFill>
                <a:latin typeface="Microsoft YaHei"/>
              </a:rPr>
              <a:t>刻画邻近压力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8200" y="2907792"/>
            <a:ext cx="2834640" cy="10241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7727C"/>
                </a:solidFill>
                <a:latin typeface="Microsoft YaHei"/>
              </a:rPr>
              <a:t>以阶段期初廊道为基准，分析新增建成区在0—0.5、0.5—1、1—2和&gt;2 km距离带的分布。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754880"/>
            <a:ext cx="10835640" cy="1051560"/>
          </a:xfrm>
          <a:prstGeom prst="roundRect">
            <a:avLst/>
          </a:prstGeom>
          <a:solidFill>
            <a:srgbClr val="006CBC"/>
          </a:solidFill>
          <a:ln>
            <a:solidFill>
              <a:srgbClr val="006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5047488"/>
            <a:ext cx="109728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FFFFFF"/>
                </a:solidFill>
                <a:latin typeface="Microsoft YaHei"/>
              </a:rPr>
              <a:t>应用价值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30552" y="4901184"/>
            <a:ext cx="900684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20" b="0">
                <a:solidFill>
                  <a:srgbClr val="FFFFFF"/>
                </a:solidFill>
                <a:latin typeface="Microsoft YaHei"/>
              </a:rPr>
              <a:t>支撑大型山地源地保护、廊道缓冲空间管控、障碍修复，</a:t>
            </a:r>
            <a:br/>
            <a:r>
              <a:t>并服务都市圈开发边界协同审查。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4.jpeg"/>
          <p:cNvPicPr>
            <a:picLocks noChangeAspect="1"/>
          </p:cNvPicPr>
          <p:nvPr/>
        </p:nvPicPr>
        <p:blipFill>
          <a:blip r:embed="rId2"/>
          <a:srcRect l="28537" r="28537"/>
          <a:stretch>
            <a:fillRect/>
          </a:stretch>
        </p:blipFill>
        <p:spPr>
          <a:xfrm>
            <a:off x="0" y="0"/>
            <a:ext cx="470916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407408" y="0"/>
            <a:ext cx="301752" cy="6858000"/>
          </a:xfrm>
          <a:prstGeom prst="rect">
            <a:avLst/>
          </a:prstGeom>
          <a:solidFill>
            <a:srgbClr val="006CBC"/>
          </a:solidFill>
          <a:ln>
            <a:solidFill>
              <a:srgbClr val="006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0" y="1508760"/>
            <a:ext cx="18288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006CBC"/>
                </a:solidFill>
                <a:latin typeface="Microsoft YaHei"/>
              </a:rPr>
              <a:t>PART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49824" y="1938528"/>
            <a:ext cx="2011680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800" b="1">
                <a:solidFill>
                  <a:srgbClr val="273645"/>
                </a:solidFill>
                <a:latin typeface="Microsoft YaHei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971800"/>
            <a:ext cx="50292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900" b="1">
                <a:solidFill>
                  <a:srgbClr val="273645"/>
                </a:solidFill>
                <a:latin typeface="Microsoft YaHei"/>
              </a:rPr>
              <a:t>研究数据与方法</a:t>
            </a:r>
          </a:p>
        </p:txBody>
      </p:sp>
      <p:sp>
        <p:nvSpPr>
          <p:cNvPr id="7" name="Rectangle 6"/>
          <p:cNvSpPr/>
          <p:nvPr/>
        </p:nvSpPr>
        <p:spPr>
          <a:xfrm>
            <a:off x="5504688" y="3776472"/>
            <a:ext cx="914400" cy="45720"/>
          </a:xfrm>
          <a:prstGeom prst="rect">
            <a:avLst/>
          </a:prstGeom>
          <a:solidFill>
            <a:srgbClr val="006CBC"/>
          </a:solidFill>
          <a:ln>
            <a:solidFill>
              <a:srgbClr val="006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04688" y="4041648"/>
            <a:ext cx="530352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>
                <a:solidFill>
                  <a:srgbClr val="67727C"/>
                </a:solidFill>
                <a:latin typeface="Microsoft YaHei"/>
              </a:rPr>
              <a:t>多源数据融合与景观生态安全格局构建</a:t>
            </a:r>
          </a:p>
        </p:txBody>
      </p:sp>
      <p:pic>
        <p:nvPicPr>
          <p:cNvPr id="9" name="Picture 8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5248" y="164592"/>
            <a:ext cx="1572768" cy="42893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CBC"/>
          </a:solidFill>
          <a:ln>
            <a:solidFill>
              <a:srgbClr val="006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237744"/>
            <a:ext cx="886968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006CBC"/>
                </a:solidFill>
                <a:latin typeface="Microsoft YaHei"/>
              </a:rPr>
              <a:t>研究区与数据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04088"/>
            <a:ext cx="80467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7727C"/>
                </a:solidFill>
                <a:latin typeface="Microsoft YaHei"/>
              </a:rPr>
              <a:t>五省30市 · 四个研究时点 · 500 m统一分析网格</a:t>
            </a:r>
          </a:p>
        </p:txBody>
      </p:sp>
      <p:pic>
        <p:nvPicPr>
          <p:cNvPr id="5" name="Picture 4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5248" y="164592"/>
            <a:ext cx="1572768" cy="42893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75488" y="987552"/>
            <a:ext cx="11155680" cy="22860"/>
          </a:xfrm>
          <a:prstGeom prst="rect">
            <a:avLst/>
          </a:prstGeom>
          <a:solidFill>
            <a:srgbClr val="D7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65408" y="6446520"/>
            <a:ext cx="502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92A0AC"/>
                </a:solidFill>
                <a:latin typeface="Microsoft YaHei"/>
              </a:rP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686032" y="6327648"/>
            <a:ext cx="502920" cy="530352"/>
          </a:xfrm>
          <a:prstGeom prst="roundRect">
            <a:avLst/>
          </a:prstGeom>
          <a:solidFill>
            <a:srgbClr val="006CBC"/>
          </a:solidFill>
          <a:ln>
            <a:solidFill>
              <a:srgbClr val="006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076667"/>
            <a:ext cx="4846320" cy="3427040"/>
          </a:xfrm>
          <a:prstGeom prst="rect">
            <a:avLst/>
          </a:prstGeom>
          <a:ln w="10160">
            <a:solidFill>
              <a:srgbClr val="D5DFE8"/>
            </a:solidFill>
          </a:ln>
        </p:spPr>
      </p:pic>
      <p:sp>
        <p:nvSpPr>
          <p:cNvPr id="10" name="Rounded Rectangle 9"/>
          <p:cNvSpPr/>
          <p:nvPr/>
        </p:nvSpPr>
        <p:spPr>
          <a:xfrm>
            <a:off x="5596128" y="1280160"/>
            <a:ext cx="5650992" cy="960120"/>
          </a:xfrm>
          <a:prstGeom prst="roundRect">
            <a:avLst/>
          </a:prstGeom>
          <a:solidFill>
            <a:srgbClr val="F3F7FB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33872" y="1417319"/>
            <a:ext cx="2148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006CBC"/>
                </a:solidFill>
                <a:latin typeface="Microsoft YaHei"/>
              </a:rPr>
              <a:t>NPP-VIIRS 夜间灯光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65008" y="1417319"/>
            <a:ext cx="2880360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273645"/>
                </a:solidFill>
                <a:latin typeface="Microsoft YaHei"/>
              </a:rPr>
              <a:t>2012 / 2016 / 2020 / 2024；500 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65008" y="1755648"/>
            <a:ext cx="28803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7727C"/>
                </a:solidFill>
                <a:latin typeface="Microsoft YaHei"/>
              </a:rPr>
              <a:t>表征人类活动强度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96128" y="2450591"/>
            <a:ext cx="5650992" cy="960120"/>
          </a:xfrm>
          <a:prstGeom prst="roundRect">
            <a:avLst/>
          </a:prstGeom>
          <a:solidFill>
            <a:srgbClr val="F3F7FB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33872" y="2587751"/>
            <a:ext cx="2148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006CBC"/>
                </a:solidFill>
                <a:latin typeface="Microsoft YaHei"/>
              </a:rPr>
              <a:t>兴趣点（POI）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65008" y="2587751"/>
            <a:ext cx="2880360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273645"/>
                </a:solidFill>
                <a:latin typeface="Microsoft YaHei"/>
              </a:rPr>
              <a:t>对应研究时点；点数据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65008" y="2926079"/>
            <a:ext cx="28803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7727C"/>
                </a:solidFill>
                <a:latin typeface="Microsoft YaHei"/>
              </a:rPr>
              <a:t>表征设施集聚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596128" y="3621024"/>
            <a:ext cx="5650992" cy="960120"/>
          </a:xfrm>
          <a:prstGeom prst="roundRect">
            <a:avLst/>
          </a:prstGeom>
          <a:solidFill>
            <a:srgbClr val="F3F7FB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33872" y="3758184"/>
            <a:ext cx="2148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006CBC"/>
                </a:solidFill>
                <a:latin typeface="Microsoft YaHei"/>
              </a:rPr>
              <a:t>CLCD 土地覆盖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65008" y="3758184"/>
            <a:ext cx="2880360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273645"/>
                </a:solidFill>
                <a:latin typeface="Microsoft YaHei"/>
              </a:rPr>
              <a:t>对应研究时点；30 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65008" y="4096512"/>
            <a:ext cx="28803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7727C"/>
                </a:solidFill>
                <a:latin typeface="Microsoft YaHei"/>
              </a:rPr>
              <a:t>构建MSPA与阻力面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596128" y="4791456"/>
            <a:ext cx="5650992" cy="960120"/>
          </a:xfrm>
          <a:prstGeom prst="roundRect">
            <a:avLst/>
          </a:prstGeom>
          <a:solidFill>
            <a:srgbClr val="F3F7FB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33872" y="4928616"/>
            <a:ext cx="2148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006CBC"/>
                </a:solidFill>
                <a:latin typeface="Microsoft YaHei"/>
              </a:rPr>
              <a:t>统计与边界数据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65008" y="4928616"/>
            <a:ext cx="2880360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273645"/>
                </a:solidFill>
                <a:latin typeface="Microsoft YaHei"/>
              </a:rPr>
              <a:t>城市建设年鉴、人口、GDP、行政区划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65008" y="5266944"/>
            <a:ext cx="28803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7727C"/>
                </a:solidFill>
                <a:latin typeface="Microsoft YaHei"/>
              </a:rPr>
              <a:t>精度检验与重心分析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CBC"/>
          </a:solidFill>
          <a:ln>
            <a:solidFill>
              <a:srgbClr val="006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237744"/>
            <a:ext cx="886968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006CBC"/>
                </a:solidFill>
                <a:latin typeface="Microsoft YaHei"/>
              </a:rPr>
              <a:t>总体技术路线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04088"/>
            <a:ext cx="80467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7727C"/>
                </a:solidFill>
                <a:latin typeface="Microsoft YaHei"/>
              </a:rPr>
              <a:t>城市建成区变迁识别—生态安全格局构建—空间关联与优化</a:t>
            </a:r>
          </a:p>
        </p:txBody>
      </p:sp>
      <p:pic>
        <p:nvPicPr>
          <p:cNvPr id="5" name="Picture 4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5248" y="164592"/>
            <a:ext cx="1572768" cy="42893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75488" y="987552"/>
            <a:ext cx="11155680" cy="22860"/>
          </a:xfrm>
          <a:prstGeom prst="rect">
            <a:avLst/>
          </a:prstGeom>
          <a:solidFill>
            <a:srgbClr val="D7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65408" y="6446520"/>
            <a:ext cx="502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92A0AC"/>
                </a:solidFill>
                <a:latin typeface="Microsoft YaHei"/>
              </a:rP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686032" y="6327648"/>
            <a:ext cx="502920" cy="530352"/>
          </a:xfrm>
          <a:prstGeom prst="roundRect">
            <a:avLst/>
          </a:prstGeom>
          <a:solidFill>
            <a:srgbClr val="006CBC"/>
          </a:solidFill>
          <a:ln>
            <a:solidFill>
              <a:srgbClr val="006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7843" y="1261872"/>
            <a:ext cx="7065832" cy="4992624"/>
          </a:xfrm>
          <a:prstGeom prst="rect">
            <a:avLst/>
          </a:prstGeom>
          <a:ln w="10160">
            <a:solidFill>
              <a:srgbClr val="D5DFE8"/>
            </a:solidFill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CBC"/>
          </a:solidFill>
          <a:ln>
            <a:solidFill>
              <a:srgbClr val="006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237744"/>
            <a:ext cx="886968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006CBC"/>
                </a:solidFill>
                <a:latin typeface="Microsoft YaHei"/>
              </a:rPr>
              <a:t>建成区提取与城市扩张测度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04088"/>
            <a:ext cx="80467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7727C"/>
                </a:solidFill>
                <a:latin typeface="Microsoft YaHei"/>
              </a:rPr>
              <a:t>夜间灯光与POI互补，提高边界识别稳定性</a:t>
            </a:r>
          </a:p>
        </p:txBody>
      </p:sp>
      <p:pic>
        <p:nvPicPr>
          <p:cNvPr id="5" name="Picture 4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5248" y="164592"/>
            <a:ext cx="1572768" cy="42893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75488" y="987552"/>
            <a:ext cx="11155680" cy="22860"/>
          </a:xfrm>
          <a:prstGeom prst="rect">
            <a:avLst/>
          </a:prstGeom>
          <a:solidFill>
            <a:srgbClr val="D7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65408" y="6446520"/>
            <a:ext cx="502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92A0AC"/>
                </a:solidFill>
                <a:latin typeface="Microsoft YaHei"/>
              </a:rP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686032" y="6327648"/>
            <a:ext cx="502920" cy="530352"/>
          </a:xfrm>
          <a:prstGeom prst="roundRect">
            <a:avLst/>
          </a:prstGeom>
          <a:solidFill>
            <a:srgbClr val="006CBC"/>
          </a:solidFill>
          <a:ln>
            <a:solidFill>
              <a:srgbClr val="006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426464"/>
            <a:ext cx="1965960" cy="2331720"/>
          </a:xfrm>
          <a:prstGeom prst="roundRect">
            <a:avLst/>
          </a:prstGeom>
          <a:solidFill>
            <a:srgbClr val="F3F7FB"/>
          </a:solidFill>
          <a:ln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97280" y="1673352"/>
            <a:ext cx="768096" cy="512064"/>
          </a:xfrm>
          <a:prstGeom prst="roundRect">
            <a:avLst/>
          </a:prstGeom>
          <a:solidFill>
            <a:srgbClr val="006CBC"/>
          </a:solidFill>
          <a:ln>
            <a:solidFill>
              <a:srgbClr val="006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1792224"/>
            <a:ext cx="768096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" y="2395728"/>
            <a:ext cx="1673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273645"/>
                </a:solidFill>
                <a:latin typeface="Microsoft YaHei"/>
              </a:rPr>
              <a:t>灯光预处理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" y="2816352"/>
            <a:ext cx="1636776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80" b="0">
                <a:solidFill>
                  <a:srgbClr val="67727C"/>
                </a:solidFill>
                <a:latin typeface="Microsoft YaHei"/>
              </a:rPr>
              <a:t>异常值处理</a:t>
            </a:r>
            <a:br/>
            <a:r>
              <a:t>去噪与归一化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16352" y="1426464"/>
            <a:ext cx="1965960" cy="2331720"/>
          </a:xfrm>
          <a:prstGeom prst="roundRect">
            <a:avLst/>
          </a:prstGeom>
          <a:solidFill>
            <a:srgbClr val="F3F7FB"/>
          </a:solidFill>
          <a:ln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410712" y="1673352"/>
            <a:ext cx="768096" cy="512064"/>
          </a:xfrm>
          <a:prstGeom prst="roundRect">
            <a:avLst/>
          </a:prstGeom>
          <a:solidFill>
            <a:srgbClr val="006CBC"/>
          </a:solidFill>
          <a:ln>
            <a:solidFill>
              <a:srgbClr val="006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10712" y="1792224"/>
            <a:ext cx="768096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62656" y="2395728"/>
            <a:ext cx="1673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273645"/>
                </a:solidFill>
                <a:latin typeface="Microsoft YaHei"/>
              </a:rPr>
              <a:t>POI核密度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80944" y="2816352"/>
            <a:ext cx="1636776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80" b="0">
                <a:solidFill>
                  <a:srgbClr val="67727C"/>
                </a:solidFill>
                <a:latin typeface="Microsoft YaHei"/>
              </a:rPr>
              <a:t>清洗兴趣点并计算核密度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29783" y="1426464"/>
            <a:ext cx="1965960" cy="2331720"/>
          </a:xfrm>
          <a:prstGeom prst="roundRect">
            <a:avLst/>
          </a:prstGeom>
          <a:solidFill>
            <a:srgbClr val="F3F7FB"/>
          </a:solidFill>
          <a:ln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724144" y="1673352"/>
            <a:ext cx="768096" cy="512064"/>
          </a:xfrm>
          <a:prstGeom prst="roundRect">
            <a:avLst/>
          </a:prstGeom>
          <a:solidFill>
            <a:srgbClr val="006CBC"/>
          </a:solidFill>
          <a:ln>
            <a:solidFill>
              <a:srgbClr val="006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24144" y="1792224"/>
            <a:ext cx="768096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76088" y="2395728"/>
            <a:ext cx="1673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273645"/>
                </a:solidFill>
                <a:latin typeface="Microsoft YaHei"/>
              </a:rPr>
              <a:t>线性融合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94375" y="2816352"/>
            <a:ext cx="1636776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80" b="0">
                <a:solidFill>
                  <a:srgbClr val="67727C"/>
                </a:solidFill>
                <a:latin typeface="Microsoft YaHei"/>
              </a:rPr>
              <a:t>Iᵢ = αN′ᵢ + (1−α)P′ᵢ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43216" y="1426464"/>
            <a:ext cx="1965960" cy="2331720"/>
          </a:xfrm>
          <a:prstGeom prst="roundRect">
            <a:avLst/>
          </a:prstGeom>
          <a:solidFill>
            <a:srgbClr val="F3F7FB"/>
          </a:solidFill>
          <a:ln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037576" y="1673352"/>
            <a:ext cx="768096" cy="512064"/>
          </a:xfrm>
          <a:prstGeom prst="roundRect">
            <a:avLst/>
          </a:prstGeom>
          <a:solidFill>
            <a:srgbClr val="006CBC"/>
          </a:solidFill>
          <a:ln>
            <a:solidFill>
              <a:srgbClr val="006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37576" y="1792224"/>
            <a:ext cx="768096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0" y="2395728"/>
            <a:ext cx="1673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273645"/>
                </a:solidFill>
                <a:latin typeface="Microsoft YaHei"/>
              </a:rPr>
              <a:t>阈值分割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07808" y="2816352"/>
            <a:ext cx="1636776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80" b="0">
                <a:solidFill>
                  <a:srgbClr val="67727C"/>
                </a:solidFill>
                <a:latin typeface="Microsoft YaHei"/>
              </a:rPr>
              <a:t>迭代确定τ</a:t>
            </a:r>
            <a:br/>
            <a:r>
              <a:t>获得建成区像元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756648" y="1426464"/>
            <a:ext cx="1965960" cy="2331720"/>
          </a:xfrm>
          <a:prstGeom prst="roundRect">
            <a:avLst/>
          </a:prstGeom>
          <a:solidFill>
            <a:srgbClr val="F3F7FB"/>
          </a:solidFill>
          <a:ln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0351008" y="1673352"/>
            <a:ext cx="768096" cy="512064"/>
          </a:xfrm>
          <a:prstGeom prst="roundRect">
            <a:avLst/>
          </a:prstGeom>
          <a:solidFill>
            <a:srgbClr val="00B8A4"/>
          </a:solidFill>
          <a:ln>
            <a:solidFill>
              <a:srgbClr val="00B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351008" y="1792224"/>
            <a:ext cx="768096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02952" y="2395728"/>
            <a:ext cx="1673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273645"/>
                </a:solidFill>
                <a:latin typeface="Microsoft YaHei"/>
              </a:rPr>
              <a:t>精度与变化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21240" y="2816352"/>
            <a:ext cx="1636776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80" b="0">
                <a:solidFill>
                  <a:srgbClr val="67727C"/>
                </a:solidFill>
                <a:latin typeface="Microsoft YaHei"/>
              </a:rPr>
              <a:t>统计面积检验</a:t>
            </a:r>
            <a:br/>
            <a:r>
              <a:t>扩张速度与强度</a:t>
            </a:r>
            <a:br/>
            <a:r>
              <a:t>标准差椭圆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85800" y="4370832"/>
            <a:ext cx="3063240" cy="1353312"/>
          </a:xfrm>
          <a:prstGeom prst="roundRect">
            <a:avLst/>
          </a:prstGeom>
          <a:solidFill>
            <a:srgbClr val="F3F7FB"/>
          </a:solidFill>
          <a:ln>
            <a:solidFill>
              <a:srgbClr val="DF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5528" y="4480560"/>
            <a:ext cx="2843784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>
                <a:solidFill>
                  <a:srgbClr val="006CBC"/>
                </a:solidFill>
                <a:latin typeface="Microsoft YaHei"/>
              </a:rPr>
              <a:t>85.27%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5528" y="4956048"/>
            <a:ext cx="28437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>
                <a:solidFill>
                  <a:srgbClr val="273645"/>
                </a:solidFill>
                <a:latin typeface="Microsoft YaHei"/>
              </a:rPr>
              <a:t>30市平均相对面积精度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5266944"/>
            <a:ext cx="28803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>
                <a:solidFill>
                  <a:srgbClr val="67727C"/>
                </a:solidFill>
                <a:latin typeface="Microsoft YaHei"/>
              </a:rPr>
              <a:t>高于单一夜间灯光结果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069080" y="4370832"/>
            <a:ext cx="717804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9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4069080" y="4370832"/>
            <a:ext cx="91440" cy="1353312"/>
          </a:xfrm>
          <a:prstGeom prst="roundRect">
            <a:avLst/>
          </a:prstGeom>
          <a:solidFill>
            <a:srgbClr val="F28E2B"/>
          </a:solidFill>
          <a:ln>
            <a:solidFill>
              <a:srgbClr val="F28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15968" y="4526280"/>
            <a:ext cx="6739127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F28E2B"/>
                </a:solidFill>
                <a:latin typeface="Microsoft YaHei"/>
              </a:rPr>
              <a:t>结果解释边界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15968" y="4928616"/>
            <a:ext cx="6739127" cy="6675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273645"/>
                </a:solidFill>
                <a:latin typeface="Microsoft YaHei"/>
              </a:rPr>
              <a:t>山地丘陵城市外围低亮度斑块遗漏相对较多，因此重点比较跨期相对变化与总体空间格局。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CBC"/>
          </a:solidFill>
          <a:ln>
            <a:solidFill>
              <a:srgbClr val="006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237744"/>
            <a:ext cx="886968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006CBC"/>
                </a:solidFill>
                <a:latin typeface="Microsoft YaHei"/>
              </a:rPr>
              <a:t>生态安全格局构建与耦合分析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04088"/>
            <a:ext cx="80467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7727C"/>
                </a:solidFill>
                <a:latin typeface="Microsoft YaHei"/>
              </a:rPr>
              <a:t>MSPA + MCR + 电路理论 + 距离梯度</a:t>
            </a:r>
          </a:p>
        </p:txBody>
      </p:sp>
      <p:pic>
        <p:nvPicPr>
          <p:cNvPr id="5" name="Picture 4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5248" y="164592"/>
            <a:ext cx="1572768" cy="42893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75488" y="987552"/>
            <a:ext cx="11155680" cy="22860"/>
          </a:xfrm>
          <a:prstGeom prst="rect">
            <a:avLst/>
          </a:prstGeom>
          <a:solidFill>
            <a:srgbClr val="D7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65408" y="6446520"/>
            <a:ext cx="502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92A0AC"/>
                </a:solidFill>
                <a:latin typeface="Microsoft YaHei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686032" y="6327648"/>
            <a:ext cx="502920" cy="530352"/>
          </a:xfrm>
          <a:prstGeom prst="roundRect">
            <a:avLst/>
          </a:prstGeom>
          <a:solidFill>
            <a:srgbClr val="006CBC"/>
          </a:solidFill>
          <a:ln>
            <a:solidFill>
              <a:srgbClr val="006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30352" y="1417320"/>
            <a:ext cx="2523744" cy="3401568"/>
          </a:xfrm>
          <a:prstGeom prst="roundRect">
            <a:avLst/>
          </a:prstGeom>
          <a:solidFill>
            <a:srgbClr val="F3F7FB"/>
          </a:solidFill>
          <a:ln>
            <a:solidFill>
              <a:srgbClr val="DA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30352" y="1417320"/>
            <a:ext cx="2523744" cy="118872"/>
          </a:xfrm>
          <a:prstGeom prst="roundRect">
            <a:avLst/>
          </a:prstGeom>
          <a:solidFill>
            <a:srgbClr val="006CBC"/>
          </a:solidFill>
          <a:ln>
            <a:solidFill>
              <a:srgbClr val="006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19" y="1792224"/>
            <a:ext cx="21031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>
                <a:solidFill>
                  <a:srgbClr val="006CBC"/>
                </a:solidFill>
                <a:latin typeface="Microsoft YaHei"/>
              </a:rPr>
              <a:t>生态源地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2450592"/>
            <a:ext cx="2057400" cy="1737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0">
                <a:solidFill>
                  <a:srgbClr val="273645"/>
                </a:solidFill>
                <a:latin typeface="Microsoft YaHei"/>
              </a:rPr>
              <a:t>林地、水域、草地为前景</a:t>
            </a:r>
            <a:br/>
            <a:r>
              <a:t>MSPA识别核心区</a:t>
            </a:r>
            <a:br/>
            <a:r>
              <a:t>综合面积与连通性筛选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01568" y="1417320"/>
            <a:ext cx="2523744" cy="3401568"/>
          </a:xfrm>
          <a:prstGeom prst="roundRect">
            <a:avLst/>
          </a:prstGeom>
          <a:solidFill>
            <a:srgbClr val="F3F7FB"/>
          </a:solidFill>
          <a:ln>
            <a:solidFill>
              <a:srgbClr val="DA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401568" y="1417320"/>
            <a:ext cx="2523744" cy="118872"/>
          </a:xfrm>
          <a:prstGeom prst="roundRect">
            <a:avLst/>
          </a:prstGeom>
          <a:solidFill>
            <a:srgbClr val="00B8A4"/>
          </a:solidFill>
          <a:ln>
            <a:solidFill>
              <a:srgbClr val="00B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02736" y="1792224"/>
            <a:ext cx="21031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>
                <a:solidFill>
                  <a:srgbClr val="00B8A4"/>
                </a:solidFill>
                <a:latin typeface="Microsoft YaHei"/>
              </a:rPr>
              <a:t>综合阻力面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0168" y="2450592"/>
            <a:ext cx="2057400" cy="1737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0">
                <a:solidFill>
                  <a:srgbClr val="273645"/>
                </a:solidFill>
                <a:latin typeface="Microsoft YaHei"/>
              </a:rPr>
              <a:t>土地利用权重0.50</a:t>
            </a:r>
            <a:br/>
            <a:r>
              <a:t>夜间灯光权重0.25</a:t>
            </a:r>
            <a:br/>
            <a:r>
              <a:t>POI密度权重0.25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72784" y="1417320"/>
            <a:ext cx="2523744" cy="3401568"/>
          </a:xfrm>
          <a:prstGeom prst="roundRect">
            <a:avLst/>
          </a:prstGeom>
          <a:solidFill>
            <a:srgbClr val="F3F7FB"/>
          </a:solidFill>
          <a:ln>
            <a:solidFill>
              <a:srgbClr val="DA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72784" y="1417320"/>
            <a:ext cx="2523744" cy="118872"/>
          </a:xfrm>
          <a:prstGeom prst="roundRect">
            <a:avLst/>
          </a:prstGeom>
          <a:solidFill>
            <a:srgbClr val="F28E2B"/>
          </a:solidFill>
          <a:ln>
            <a:solidFill>
              <a:srgbClr val="F28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1792224"/>
            <a:ext cx="21031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>
                <a:solidFill>
                  <a:srgbClr val="F28E2B"/>
                </a:solidFill>
                <a:latin typeface="Microsoft YaHei"/>
              </a:rPr>
              <a:t>廊道与节点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01384" y="2450592"/>
            <a:ext cx="2057400" cy="1737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0">
                <a:solidFill>
                  <a:srgbClr val="273645"/>
                </a:solidFill>
                <a:latin typeface="Microsoft YaHei"/>
              </a:rPr>
              <a:t>MCR最小成本路径</a:t>
            </a:r>
            <a:br/>
            <a:r>
              <a:t>电路理论识别夹点</a:t>
            </a:r>
            <a:br/>
            <a:r>
              <a:t>障碍区与重点修复区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0" y="1417320"/>
            <a:ext cx="2523744" cy="3401568"/>
          </a:xfrm>
          <a:prstGeom prst="roundRect">
            <a:avLst/>
          </a:prstGeom>
          <a:solidFill>
            <a:srgbClr val="F3F7FB"/>
          </a:solidFill>
          <a:ln>
            <a:solidFill>
              <a:srgbClr val="DA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44000" y="1417320"/>
            <a:ext cx="2523744" cy="118872"/>
          </a:xfrm>
          <a:prstGeom prst="roundRect">
            <a:avLst/>
          </a:prstGeom>
          <a:solidFill>
            <a:srgbClr val="E84A5F"/>
          </a:solidFill>
          <a:ln>
            <a:solidFill>
              <a:srgbClr val="E84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45168" y="1792224"/>
            <a:ext cx="21031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>
                <a:solidFill>
                  <a:srgbClr val="E84A5F"/>
                </a:solidFill>
                <a:latin typeface="Microsoft YaHei"/>
              </a:rPr>
              <a:t>空间耦合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72600" y="2450592"/>
            <a:ext cx="2057400" cy="1737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0">
                <a:solidFill>
                  <a:srgbClr val="273645"/>
                </a:solidFill>
                <a:latin typeface="Microsoft YaHei"/>
              </a:rPr>
              <a:t>阶段期初廊道为基准</a:t>
            </a:r>
            <a:br/>
            <a:r>
              <a:t>统计0—0.5、0.5—1、1—2、&gt;2 km</a:t>
            </a:r>
            <a:br/>
            <a:r>
              <a:t>区分占用与邻近压力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212080"/>
            <a:ext cx="10744200" cy="640080"/>
          </a:xfrm>
          <a:prstGeom prst="roundRect">
            <a:avLst/>
          </a:prstGeom>
          <a:solidFill>
            <a:srgbClr val="E8F3FB"/>
          </a:solidFill>
          <a:ln>
            <a:solidFill>
              <a:srgbClr val="E8F3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5404104"/>
            <a:ext cx="10287000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>
                <a:solidFill>
                  <a:srgbClr val="006CBC"/>
                </a:solidFill>
                <a:latin typeface="Microsoft YaHei"/>
              </a:rPr>
              <a:t>说明：距离带用于500 m网格尺度下的相对暴露比较，不解释为适用于所有物种的固定生态阈值。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7.jpeg"/>
          <p:cNvPicPr>
            <a:picLocks noChangeAspect="1"/>
          </p:cNvPicPr>
          <p:nvPr/>
        </p:nvPicPr>
        <p:blipFill>
          <a:blip r:embed="rId2"/>
          <a:srcRect l="28542" r="28542"/>
          <a:stretch>
            <a:fillRect/>
          </a:stretch>
        </p:blipFill>
        <p:spPr>
          <a:xfrm>
            <a:off x="0" y="0"/>
            <a:ext cx="470916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407408" y="0"/>
            <a:ext cx="301752" cy="6858000"/>
          </a:xfrm>
          <a:prstGeom prst="rect">
            <a:avLst/>
          </a:prstGeom>
          <a:solidFill>
            <a:srgbClr val="006CBC"/>
          </a:solidFill>
          <a:ln>
            <a:solidFill>
              <a:srgbClr val="006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0" y="1508760"/>
            <a:ext cx="18288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006CBC"/>
                </a:solidFill>
                <a:latin typeface="Microsoft YaHei"/>
              </a:rPr>
              <a:t>PART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49824" y="1938528"/>
            <a:ext cx="2011680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800" b="1">
                <a:solidFill>
                  <a:srgbClr val="273645"/>
                </a:solidFill>
                <a:latin typeface="Microsoft YaHei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971800"/>
            <a:ext cx="50292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900" b="1">
                <a:solidFill>
                  <a:srgbClr val="273645"/>
                </a:solidFill>
                <a:latin typeface="Microsoft YaHei"/>
              </a:rPr>
              <a:t>研究结果与发现</a:t>
            </a:r>
          </a:p>
        </p:txBody>
      </p:sp>
      <p:sp>
        <p:nvSpPr>
          <p:cNvPr id="7" name="Rectangle 6"/>
          <p:cNvSpPr/>
          <p:nvPr/>
        </p:nvSpPr>
        <p:spPr>
          <a:xfrm>
            <a:off x="5504688" y="3776472"/>
            <a:ext cx="914400" cy="45720"/>
          </a:xfrm>
          <a:prstGeom prst="rect">
            <a:avLst/>
          </a:prstGeom>
          <a:solidFill>
            <a:srgbClr val="006CBC"/>
          </a:solidFill>
          <a:ln>
            <a:solidFill>
              <a:srgbClr val="006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04688" y="4041648"/>
            <a:ext cx="530352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>
                <a:solidFill>
                  <a:srgbClr val="67727C"/>
                </a:solidFill>
                <a:latin typeface="Microsoft YaHei"/>
              </a:rPr>
              <a:t>扩张趋缓、源地小型化与廊道邻近空间受压</a:t>
            </a:r>
          </a:p>
        </p:txBody>
      </p:sp>
      <p:pic>
        <p:nvPicPr>
          <p:cNvPr id="9" name="Picture 8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5248" y="164592"/>
            <a:ext cx="1572768" cy="42893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CBC"/>
          </a:solidFill>
          <a:ln>
            <a:solidFill>
              <a:srgbClr val="006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237744"/>
            <a:ext cx="886968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006CBC"/>
                </a:solidFill>
                <a:latin typeface="Microsoft YaHei"/>
              </a:rPr>
              <a:t>建成区扩张总体趋缓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04088"/>
            <a:ext cx="80467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7727C"/>
                </a:solidFill>
                <a:latin typeface="Microsoft YaHei"/>
              </a:rPr>
              <a:t>由普遍外延增长转向都市圈带动与节点城市接续增长</a:t>
            </a:r>
          </a:p>
        </p:txBody>
      </p:sp>
      <p:pic>
        <p:nvPicPr>
          <p:cNvPr id="5" name="Picture 4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5248" y="164592"/>
            <a:ext cx="1572768" cy="42893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75488" y="987552"/>
            <a:ext cx="11155680" cy="22860"/>
          </a:xfrm>
          <a:prstGeom prst="rect">
            <a:avLst/>
          </a:prstGeom>
          <a:solidFill>
            <a:srgbClr val="D7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65408" y="6446520"/>
            <a:ext cx="502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92A0AC"/>
                </a:solidFill>
                <a:latin typeface="Microsoft YaHei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686032" y="6327648"/>
            <a:ext cx="502920" cy="530352"/>
          </a:xfrm>
          <a:prstGeom prst="roundRect">
            <a:avLst/>
          </a:prstGeom>
          <a:solidFill>
            <a:srgbClr val="006CBC"/>
          </a:solidFill>
          <a:ln>
            <a:solidFill>
              <a:srgbClr val="006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2214" y="1261872"/>
            <a:ext cx="5859530" cy="5102352"/>
          </a:xfrm>
          <a:prstGeom prst="rect">
            <a:avLst/>
          </a:prstGeom>
          <a:ln w="10160">
            <a:solidFill>
              <a:srgbClr val="D5DFE8"/>
            </a:solidFill>
          </a:ln>
        </p:spPr>
      </p:pic>
      <p:sp>
        <p:nvSpPr>
          <p:cNvPr id="10" name="Rounded Rectangle 9"/>
          <p:cNvSpPr/>
          <p:nvPr/>
        </p:nvSpPr>
        <p:spPr>
          <a:xfrm>
            <a:off x="8595360" y="1426464"/>
            <a:ext cx="2606040" cy="1207008"/>
          </a:xfrm>
          <a:prstGeom prst="roundRect">
            <a:avLst/>
          </a:prstGeom>
          <a:solidFill>
            <a:srgbClr val="F3F7FB"/>
          </a:solidFill>
          <a:ln>
            <a:solidFill>
              <a:srgbClr val="DF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05088" y="1536192"/>
            <a:ext cx="2386584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>
                <a:solidFill>
                  <a:srgbClr val="006CBC"/>
                </a:solidFill>
                <a:latin typeface="Microsoft YaHei"/>
              </a:rPr>
              <a:t>855.25 km²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05088" y="2011680"/>
            <a:ext cx="23865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>
                <a:solidFill>
                  <a:srgbClr val="273645"/>
                </a:solidFill>
                <a:latin typeface="Microsoft YaHei"/>
              </a:rPr>
              <a:t>2012—2016新增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95360" y="2816352"/>
            <a:ext cx="2606040" cy="1207008"/>
          </a:xfrm>
          <a:prstGeom prst="roundRect">
            <a:avLst/>
          </a:prstGeom>
          <a:solidFill>
            <a:srgbClr val="F3F7FB"/>
          </a:solidFill>
          <a:ln>
            <a:solidFill>
              <a:srgbClr val="DF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05088" y="2926080"/>
            <a:ext cx="2386584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>
                <a:solidFill>
                  <a:srgbClr val="00B8A4"/>
                </a:solidFill>
                <a:latin typeface="Microsoft YaHei"/>
              </a:rPr>
              <a:t>671.75 km²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05088" y="3401568"/>
            <a:ext cx="23865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>
                <a:solidFill>
                  <a:srgbClr val="273645"/>
                </a:solidFill>
                <a:latin typeface="Microsoft YaHei"/>
              </a:rPr>
              <a:t>2016—2020新增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95360" y="4206240"/>
            <a:ext cx="2606040" cy="1207008"/>
          </a:xfrm>
          <a:prstGeom prst="roundRect">
            <a:avLst/>
          </a:prstGeom>
          <a:solidFill>
            <a:srgbClr val="F3F7FB"/>
          </a:solidFill>
          <a:ln>
            <a:solidFill>
              <a:srgbClr val="DF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05088" y="4315968"/>
            <a:ext cx="2386584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>
                <a:solidFill>
                  <a:srgbClr val="F28E2B"/>
                </a:solidFill>
                <a:latin typeface="Microsoft YaHei"/>
              </a:rPr>
              <a:t>576.75 km²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05088" y="4791455"/>
            <a:ext cx="23865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>
                <a:solidFill>
                  <a:srgbClr val="273645"/>
                </a:solidFill>
                <a:latin typeface="Microsoft YaHei"/>
              </a:rPr>
              <a:t>2020—2024新增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13648" y="5596128"/>
            <a:ext cx="2578608" cy="6035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67727C"/>
                </a:solidFill>
                <a:latin typeface="Microsoft YaHei"/>
              </a:rPr>
              <a:t>郑州扩张速度与强度最高；后期多数城市放缓，商丘、周口等中东部节点仍保持较高相对增幅。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CBC"/>
          </a:solidFill>
          <a:ln>
            <a:solidFill>
              <a:srgbClr val="006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237744"/>
            <a:ext cx="886968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006CBC"/>
                </a:solidFill>
                <a:latin typeface="Microsoft YaHei"/>
              </a:rPr>
              <a:t>生态源地增加，但生态基底趋于小型化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04088"/>
            <a:ext cx="80467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7727C"/>
                </a:solidFill>
                <a:latin typeface="Microsoft YaHei"/>
              </a:rPr>
              <a:t>“外围山地支撑—中东部平原承压”特征显著</a:t>
            </a:r>
          </a:p>
        </p:txBody>
      </p:sp>
      <p:pic>
        <p:nvPicPr>
          <p:cNvPr id="5" name="Picture 4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5248" y="164592"/>
            <a:ext cx="1572768" cy="42893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75488" y="987552"/>
            <a:ext cx="11155680" cy="22860"/>
          </a:xfrm>
          <a:prstGeom prst="rect">
            <a:avLst/>
          </a:prstGeom>
          <a:solidFill>
            <a:srgbClr val="D7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65408" y="6446520"/>
            <a:ext cx="502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92A0AC"/>
                </a:solidFill>
                <a:latin typeface="Microsoft YaHei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686032" y="6327648"/>
            <a:ext cx="502920" cy="530352"/>
          </a:xfrm>
          <a:prstGeom prst="roundRect">
            <a:avLst/>
          </a:prstGeom>
          <a:solidFill>
            <a:srgbClr val="006CBC"/>
          </a:solidFill>
          <a:ln>
            <a:solidFill>
              <a:srgbClr val="006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277" y="1234440"/>
            <a:ext cx="4684429" cy="3749039"/>
          </a:xfrm>
          <a:prstGeom prst="rect">
            <a:avLst/>
          </a:prstGeom>
          <a:ln w="10160">
            <a:solidFill>
              <a:srgbClr val="D5DFE8"/>
            </a:solidFill>
          </a:ln>
        </p:spPr>
      </p:pic>
      <p:pic>
        <p:nvPicPr>
          <p:cNvPr id="10" name="Picture 9" descr="image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1432" y="1234440"/>
            <a:ext cx="3369790" cy="3749039"/>
          </a:xfrm>
          <a:prstGeom prst="rect">
            <a:avLst/>
          </a:prstGeom>
          <a:ln w="10160">
            <a:solidFill>
              <a:srgbClr val="D5DFE8"/>
            </a:solidFill>
          </a:ln>
        </p:spPr>
      </p:pic>
      <p:sp>
        <p:nvSpPr>
          <p:cNvPr id="11" name="Rounded Rectangle 10"/>
          <p:cNvSpPr/>
          <p:nvPr/>
        </p:nvSpPr>
        <p:spPr>
          <a:xfrm>
            <a:off x="9308592" y="1353312"/>
            <a:ext cx="2258568" cy="1042415"/>
          </a:xfrm>
          <a:prstGeom prst="roundRect">
            <a:avLst/>
          </a:prstGeom>
          <a:solidFill>
            <a:srgbClr val="F3F7FB"/>
          </a:solidFill>
          <a:ln>
            <a:solidFill>
              <a:srgbClr val="DF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19" y="1463040"/>
            <a:ext cx="2039112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>
                <a:solidFill>
                  <a:srgbClr val="006CBC"/>
                </a:solidFill>
                <a:latin typeface="Microsoft YaHei"/>
              </a:rPr>
              <a:t>29 → 34处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19" y="1938528"/>
            <a:ext cx="203911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>
                <a:solidFill>
                  <a:srgbClr val="273645"/>
                </a:solidFill>
                <a:latin typeface="Microsoft YaHei"/>
              </a:rPr>
              <a:t>生态源地数量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08592" y="2560320"/>
            <a:ext cx="2258568" cy="1042415"/>
          </a:xfrm>
          <a:prstGeom prst="roundRect">
            <a:avLst/>
          </a:prstGeom>
          <a:solidFill>
            <a:srgbClr val="F3F7FB"/>
          </a:solidFill>
          <a:ln>
            <a:solidFill>
              <a:srgbClr val="DF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19" y="2670048"/>
            <a:ext cx="2039112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>
                <a:solidFill>
                  <a:srgbClr val="E84A5F"/>
                </a:solidFill>
                <a:latin typeface="Microsoft YaHei"/>
              </a:rPr>
              <a:t>−11.86%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19" y="3145536"/>
            <a:ext cx="203911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>
                <a:solidFill>
                  <a:srgbClr val="273645"/>
                </a:solidFill>
                <a:latin typeface="Microsoft YaHei"/>
              </a:rPr>
              <a:t>源地总面积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00032" y="3456432"/>
            <a:ext cx="207568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>
                <a:solidFill>
                  <a:srgbClr val="67727C"/>
                </a:solidFill>
                <a:latin typeface="Microsoft YaHei"/>
              </a:rPr>
              <a:t>30223.47 → 26637.73 km²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08592" y="3767328"/>
            <a:ext cx="2258568" cy="1042415"/>
          </a:xfrm>
          <a:prstGeom prst="roundRect">
            <a:avLst/>
          </a:prstGeom>
          <a:solidFill>
            <a:srgbClr val="F3F7FB"/>
          </a:solidFill>
          <a:ln>
            <a:solidFill>
              <a:srgbClr val="DF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19" y="3877056"/>
            <a:ext cx="2039112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>
                <a:solidFill>
                  <a:srgbClr val="F28E2B"/>
                </a:solidFill>
                <a:latin typeface="Microsoft YaHei"/>
              </a:rPr>
              <a:t>−24.83%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19" y="4352544"/>
            <a:ext cx="203911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>
                <a:solidFill>
                  <a:srgbClr val="273645"/>
                </a:solidFill>
                <a:latin typeface="Microsoft YaHei"/>
              </a:rPr>
              <a:t>平均斑块面积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00032" y="4663440"/>
            <a:ext cx="207568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>
                <a:solidFill>
                  <a:srgbClr val="67727C"/>
                </a:solidFill>
                <a:latin typeface="Microsoft YaHei"/>
              </a:rPr>
              <a:t>1042.19 → 783.46 km²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5257800"/>
            <a:ext cx="10561320" cy="713232"/>
          </a:xfrm>
          <a:prstGeom prst="roundRect">
            <a:avLst/>
          </a:prstGeom>
          <a:solidFill>
            <a:srgbClr val="E8F3FB"/>
          </a:solidFill>
          <a:ln>
            <a:solidFill>
              <a:srgbClr val="E8F3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7824" y="5449824"/>
            <a:ext cx="1010412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70" b="1">
                <a:solidFill>
                  <a:srgbClr val="006CBC"/>
                </a:solidFill>
                <a:latin typeface="Microsoft YaHei"/>
              </a:rPr>
              <a:t>大型源地集中于太行山、伏牛山和桐柏山—大别山；新增源地多为小斑块，数量上升并不等于生态基底恢复。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CBC"/>
          </a:solidFill>
          <a:ln>
            <a:solidFill>
              <a:srgbClr val="006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237744"/>
            <a:ext cx="886968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006CBC"/>
                </a:solidFill>
                <a:latin typeface="Microsoft YaHei"/>
              </a:rPr>
              <a:t>生态廊道先增强后收缩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04088"/>
            <a:ext cx="80467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7727C"/>
                </a:solidFill>
                <a:latin typeface="Microsoft YaHei"/>
              </a:rPr>
              <a:t>2024年跨区域长距离联系减少，局部连接重要性上升</a:t>
            </a:r>
          </a:p>
        </p:txBody>
      </p:sp>
      <p:pic>
        <p:nvPicPr>
          <p:cNvPr id="5" name="Picture 4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5248" y="164592"/>
            <a:ext cx="1572768" cy="42893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75488" y="987552"/>
            <a:ext cx="11155680" cy="22860"/>
          </a:xfrm>
          <a:prstGeom prst="rect">
            <a:avLst/>
          </a:prstGeom>
          <a:solidFill>
            <a:srgbClr val="D7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65408" y="6446520"/>
            <a:ext cx="502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92A0AC"/>
                </a:solidFill>
                <a:latin typeface="Microsoft YaHei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686032" y="6327648"/>
            <a:ext cx="502920" cy="530352"/>
          </a:xfrm>
          <a:prstGeom prst="roundRect">
            <a:avLst/>
          </a:prstGeom>
          <a:solidFill>
            <a:srgbClr val="006CBC"/>
          </a:solidFill>
          <a:ln>
            <a:solidFill>
              <a:srgbClr val="006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1259705"/>
            <a:ext cx="4800600" cy="4183141"/>
          </a:xfrm>
          <a:prstGeom prst="rect">
            <a:avLst/>
          </a:prstGeom>
          <a:ln w="10160">
            <a:solidFill>
              <a:srgbClr val="D5DFE8"/>
            </a:solidFill>
          </a:ln>
        </p:spPr>
      </p:pic>
      <p:pic>
        <p:nvPicPr>
          <p:cNvPr id="10" name="Picture 9" descr="image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9216" y="1234440"/>
            <a:ext cx="4026911" cy="4233672"/>
          </a:xfrm>
          <a:prstGeom prst="rect">
            <a:avLst/>
          </a:prstGeom>
          <a:ln w="10160">
            <a:solidFill>
              <a:srgbClr val="D5DFE8"/>
            </a:solidFill>
          </a:ln>
        </p:spPr>
      </p:pic>
      <p:sp>
        <p:nvSpPr>
          <p:cNvPr id="11" name="Rounded Rectangle 10"/>
          <p:cNvSpPr/>
          <p:nvPr/>
        </p:nvSpPr>
        <p:spPr>
          <a:xfrm>
            <a:off x="10113264" y="1481328"/>
            <a:ext cx="1572768" cy="1024128"/>
          </a:xfrm>
          <a:prstGeom prst="roundRect">
            <a:avLst/>
          </a:prstGeom>
          <a:solidFill>
            <a:srgbClr val="F3F7FB"/>
          </a:solidFill>
          <a:ln>
            <a:solidFill>
              <a:srgbClr val="DF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22992" y="1591056"/>
            <a:ext cx="1353312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>
                <a:solidFill>
                  <a:srgbClr val="006CBC"/>
                </a:solidFill>
                <a:latin typeface="Microsoft YaHei"/>
              </a:rPr>
              <a:t>69条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22992" y="2066544"/>
            <a:ext cx="135331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>
                <a:solidFill>
                  <a:srgbClr val="273645"/>
                </a:solidFill>
                <a:latin typeface="Microsoft YaHei"/>
              </a:rPr>
              <a:t>2012廊道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113264" y="2706624"/>
            <a:ext cx="1572768" cy="1024128"/>
          </a:xfrm>
          <a:prstGeom prst="roundRect">
            <a:avLst/>
          </a:prstGeom>
          <a:solidFill>
            <a:srgbClr val="F3F7FB"/>
          </a:solidFill>
          <a:ln>
            <a:solidFill>
              <a:srgbClr val="DF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22992" y="2816352"/>
            <a:ext cx="1353312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>
                <a:solidFill>
                  <a:srgbClr val="00B8A4"/>
                </a:solidFill>
                <a:latin typeface="Microsoft YaHei"/>
              </a:rPr>
              <a:t>88条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22992" y="3291840"/>
            <a:ext cx="135331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>
                <a:solidFill>
                  <a:srgbClr val="273645"/>
                </a:solidFill>
                <a:latin typeface="Microsoft YaHei"/>
              </a:rPr>
              <a:t>2020峰值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113264" y="3931920"/>
            <a:ext cx="1572768" cy="1024128"/>
          </a:xfrm>
          <a:prstGeom prst="roundRect">
            <a:avLst/>
          </a:prstGeom>
          <a:solidFill>
            <a:srgbClr val="F3F7FB"/>
          </a:solidFill>
          <a:ln>
            <a:solidFill>
              <a:srgbClr val="DF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22992" y="4041648"/>
            <a:ext cx="1353312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>
                <a:solidFill>
                  <a:srgbClr val="F28E2B"/>
                </a:solidFill>
                <a:latin typeface="Microsoft YaHei"/>
              </a:rPr>
              <a:t>79条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22992" y="4517136"/>
            <a:ext cx="135331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>
                <a:solidFill>
                  <a:srgbClr val="273645"/>
                </a:solidFill>
                <a:latin typeface="Microsoft YaHei"/>
              </a:rPr>
              <a:t>2024廊道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" y="5696712"/>
            <a:ext cx="104698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>
                <a:solidFill>
                  <a:srgbClr val="006CBC"/>
                </a:solidFill>
                <a:latin typeface="Microsoft YaHei"/>
              </a:rPr>
              <a:t>总长度：3422.65 km → 5278.10 km → 2682.51 km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" y="6089904"/>
            <a:ext cx="104698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>
                <a:solidFill>
                  <a:srgbClr val="67727C"/>
                </a:solidFill>
                <a:latin typeface="Microsoft YaHei"/>
              </a:rPr>
              <a:t>四期网络由同期源地和阻力面独立构建，变化不可简单归因于建成区扩张。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CBC"/>
          </a:solidFill>
          <a:ln>
            <a:solidFill>
              <a:srgbClr val="006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237744"/>
            <a:ext cx="886968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006CBC"/>
                </a:solidFill>
                <a:latin typeface="Microsoft YaHei"/>
              </a:rPr>
              <a:t>城市发展重心呈阶段性错位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04088"/>
            <a:ext cx="80467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7727C"/>
                </a:solidFill>
                <a:latin typeface="Microsoft YaHei"/>
              </a:rPr>
              <a:t>实体扩展、人口集聚与经济增长的方向和幅度并不同步</a:t>
            </a:r>
          </a:p>
        </p:txBody>
      </p:sp>
      <p:pic>
        <p:nvPicPr>
          <p:cNvPr id="5" name="Picture 4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5248" y="164592"/>
            <a:ext cx="1572768" cy="42893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75488" y="987552"/>
            <a:ext cx="11155680" cy="22860"/>
          </a:xfrm>
          <a:prstGeom prst="rect">
            <a:avLst/>
          </a:prstGeom>
          <a:solidFill>
            <a:srgbClr val="D7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65408" y="6446520"/>
            <a:ext cx="502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92A0AC"/>
                </a:solidFill>
                <a:latin typeface="Microsoft YaHei"/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686032" y="6327648"/>
            <a:ext cx="502920" cy="530352"/>
          </a:xfrm>
          <a:prstGeom prst="roundRect">
            <a:avLst/>
          </a:prstGeom>
          <a:solidFill>
            <a:srgbClr val="006CBC"/>
          </a:solidFill>
          <a:ln>
            <a:solidFill>
              <a:srgbClr val="006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507" y="1234440"/>
            <a:ext cx="7175168" cy="5074920"/>
          </a:xfrm>
          <a:prstGeom prst="rect">
            <a:avLst/>
          </a:prstGeom>
          <a:ln w="10160">
            <a:solidFill>
              <a:srgbClr val="D5DFE8"/>
            </a:solidFill>
          </a:ln>
        </p:spPr>
      </p:pic>
      <p:sp>
        <p:nvSpPr>
          <p:cNvPr id="10" name="Rounded Rectangle 9"/>
          <p:cNvSpPr/>
          <p:nvPr/>
        </p:nvSpPr>
        <p:spPr>
          <a:xfrm>
            <a:off x="8074152" y="1389888"/>
            <a:ext cx="3346704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D9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74152" y="1389888"/>
            <a:ext cx="91440" cy="1170432"/>
          </a:xfrm>
          <a:prstGeom prst="roundRect">
            <a:avLst/>
          </a:prstGeom>
          <a:solidFill>
            <a:srgbClr val="006CBC"/>
          </a:solidFill>
          <a:ln>
            <a:solidFill>
              <a:srgbClr val="006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545336"/>
            <a:ext cx="2907792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006CBC"/>
                </a:solidFill>
                <a:latin typeface="Microsoft YaHei"/>
              </a:rPr>
              <a:t>建成区重心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1947672"/>
            <a:ext cx="2907792" cy="4846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>
                <a:solidFill>
                  <a:srgbClr val="273645"/>
                </a:solidFill>
                <a:latin typeface="Microsoft YaHei"/>
              </a:rPr>
              <a:t>先向东北移动，后向南偏西回落。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74152" y="2770632"/>
            <a:ext cx="3346704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D9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74152" y="2770632"/>
            <a:ext cx="91440" cy="1170432"/>
          </a:xfrm>
          <a:prstGeom prst="roundRect">
            <a:avLst/>
          </a:prstGeom>
          <a:solidFill>
            <a:srgbClr val="00B8A4"/>
          </a:solidFill>
          <a:ln>
            <a:solidFill>
              <a:srgbClr val="00B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2926079"/>
            <a:ext cx="2907792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00B8A4"/>
                </a:solidFill>
                <a:latin typeface="Microsoft YaHei"/>
              </a:rPr>
              <a:t>人口重心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3328415"/>
            <a:ext cx="2907792" cy="4846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>
                <a:solidFill>
                  <a:srgbClr val="273645"/>
                </a:solidFill>
                <a:latin typeface="Microsoft YaHei"/>
              </a:rPr>
              <a:t>整体位于郑州—开封附近，迁移幅度最小。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74152" y="4151376"/>
            <a:ext cx="3346704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D9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074152" y="4151376"/>
            <a:ext cx="91440" cy="1170432"/>
          </a:xfrm>
          <a:prstGeom prst="roundRect">
            <a:avLst/>
          </a:prstGeom>
          <a:solidFill>
            <a:srgbClr val="F28E2B"/>
          </a:solidFill>
          <a:ln>
            <a:solidFill>
              <a:srgbClr val="F28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4306824"/>
            <a:ext cx="2907792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F28E2B"/>
                </a:solidFill>
                <a:latin typeface="Microsoft YaHei"/>
              </a:rPr>
              <a:t>GDP重心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4709160"/>
            <a:ext cx="2907792" cy="4846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60" b="0">
                <a:solidFill>
                  <a:srgbClr val="273645"/>
                </a:solidFill>
                <a:latin typeface="Microsoft YaHei"/>
              </a:rPr>
              <a:t>先向东南偏移，后向北偏西回调，幅度大于人口重心。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79" y="5669280"/>
            <a:ext cx="3127248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006CBC"/>
                </a:solidFill>
                <a:latin typeface="Microsoft YaHei"/>
              </a:rPr>
              <a:t>共同特征：三类重心总体位于郑州—开封附近。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CBC"/>
          </a:solidFill>
          <a:ln>
            <a:solidFill>
              <a:srgbClr val="006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237744"/>
            <a:ext cx="886968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006CBC"/>
                </a:solidFill>
                <a:latin typeface="Microsoft YaHei"/>
              </a:rPr>
              <a:t>总体空间错位，局部邻近风险上升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04088"/>
            <a:ext cx="80467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7727C"/>
                </a:solidFill>
                <a:latin typeface="Microsoft YaHei"/>
              </a:rPr>
              <a:t>后期风险由直接占用转向廊道邻近空间压缩</a:t>
            </a:r>
          </a:p>
        </p:txBody>
      </p:sp>
      <p:pic>
        <p:nvPicPr>
          <p:cNvPr id="5" name="Picture 4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5248" y="164592"/>
            <a:ext cx="1572768" cy="42893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75488" y="987552"/>
            <a:ext cx="11155680" cy="22860"/>
          </a:xfrm>
          <a:prstGeom prst="rect">
            <a:avLst/>
          </a:prstGeom>
          <a:solidFill>
            <a:srgbClr val="D7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65408" y="6446520"/>
            <a:ext cx="502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92A0AC"/>
                </a:solidFill>
                <a:latin typeface="Microsoft YaHei"/>
              </a:rP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686032" y="6327648"/>
            <a:ext cx="502920" cy="530352"/>
          </a:xfrm>
          <a:prstGeom prst="roundRect">
            <a:avLst/>
          </a:prstGeom>
          <a:solidFill>
            <a:srgbClr val="006CBC"/>
          </a:solidFill>
          <a:ln>
            <a:solidFill>
              <a:srgbClr val="006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885" y="1188720"/>
            <a:ext cx="7265836" cy="5138928"/>
          </a:xfrm>
          <a:prstGeom prst="rect">
            <a:avLst/>
          </a:prstGeom>
          <a:ln w="10160">
            <a:solidFill>
              <a:srgbClr val="D5DFE8"/>
            </a:solidFill>
          </a:ln>
        </p:spPr>
      </p:pic>
      <p:sp>
        <p:nvSpPr>
          <p:cNvPr id="10" name="Rounded Rectangle 9"/>
          <p:cNvSpPr/>
          <p:nvPr/>
        </p:nvSpPr>
        <p:spPr>
          <a:xfrm>
            <a:off x="8138160" y="1298448"/>
            <a:ext cx="3063240" cy="1115568"/>
          </a:xfrm>
          <a:prstGeom prst="roundRect">
            <a:avLst/>
          </a:prstGeom>
          <a:solidFill>
            <a:srgbClr val="F3F7FB"/>
          </a:solidFill>
          <a:ln>
            <a:solidFill>
              <a:srgbClr val="DF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47888" y="1408176"/>
            <a:ext cx="2843784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>
                <a:solidFill>
                  <a:srgbClr val="006CBC"/>
                </a:solidFill>
                <a:latin typeface="Microsoft YaHei"/>
              </a:rPr>
              <a:t>99.38%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47888" y="1883664"/>
            <a:ext cx="28437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>
                <a:solidFill>
                  <a:srgbClr val="273645"/>
                </a:solidFill>
                <a:latin typeface="Microsoft YaHei"/>
              </a:rPr>
              <a:t>累计新增建成区位于廊道2 km外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2615184"/>
            <a:ext cx="3063240" cy="1115568"/>
          </a:xfrm>
          <a:prstGeom prst="roundRect">
            <a:avLst/>
          </a:prstGeom>
          <a:solidFill>
            <a:srgbClr val="F3F7FB"/>
          </a:solidFill>
          <a:ln>
            <a:solidFill>
              <a:srgbClr val="DF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47888" y="2724912"/>
            <a:ext cx="2843784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>
                <a:solidFill>
                  <a:srgbClr val="F28E2B"/>
                </a:solidFill>
                <a:latin typeface="Microsoft YaHei"/>
              </a:rPr>
              <a:t>0.41% → 1.00%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7888" y="3200400"/>
            <a:ext cx="28437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>
                <a:solidFill>
                  <a:srgbClr val="273645"/>
                </a:solidFill>
                <a:latin typeface="Microsoft YaHei"/>
              </a:rPr>
              <a:t>2 km内新增占比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3931920"/>
            <a:ext cx="3063240" cy="1115568"/>
          </a:xfrm>
          <a:prstGeom prst="roundRect">
            <a:avLst/>
          </a:prstGeom>
          <a:solidFill>
            <a:srgbClr val="F3F7FB"/>
          </a:solidFill>
          <a:ln>
            <a:solidFill>
              <a:srgbClr val="DF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7888" y="4041648"/>
            <a:ext cx="2843784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>
                <a:solidFill>
                  <a:srgbClr val="E84A5F"/>
                </a:solidFill>
                <a:latin typeface="Microsoft YaHei"/>
              </a:rPr>
              <a:t>1.25 km²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4517136"/>
            <a:ext cx="28437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>
                <a:solidFill>
                  <a:srgbClr val="273645"/>
                </a:solidFill>
                <a:latin typeface="Microsoft YaHei"/>
              </a:rPr>
              <a:t>2020—2024进入0—0.5 km带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74736" y="5349240"/>
            <a:ext cx="297180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>
                <a:solidFill>
                  <a:srgbClr val="67727C"/>
                </a:solidFill>
                <a:latin typeface="Microsoft YaHei"/>
              </a:rPr>
              <a:t>三个阶段累计新增建成区2103.75 km²，其中2 km以内13.00 km²（0.62%）。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CBC"/>
          </a:solidFill>
          <a:ln>
            <a:solidFill>
              <a:srgbClr val="006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237744"/>
            <a:ext cx="886968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006CBC"/>
                </a:solidFill>
                <a:latin typeface="Microsoft YaHei"/>
              </a:rPr>
              <a:t>生态安全格局优化重点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04088"/>
            <a:ext cx="80467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7727C"/>
                </a:solidFill>
                <a:latin typeface="Microsoft YaHei"/>
              </a:rPr>
              <a:t>保护源地完整性、维护廊道缓冲、修复山地—平原过渡带</a:t>
            </a:r>
          </a:p>
        </p:txBody>
      </p:sp>
      <p:pic>
        <p:nvPicPr>
          <p:cNvPr id="5" name="Picture 4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5248" y="164592"/>
            <a:ext cx="1572768" cy="42893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75488" y="987552"/>
            <a:ext cx="11155680" cy="22860"/>
          </a:xfrm>
          <a:prstGeom prst="rect">
            <a:avLst/>
          </a:prstGeom>
          <a:solidFill>
            <a:srgbClr val="D7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65408" y="6446520"/>
            <a:ext cx="502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92A0AC"/>
                </a:solidFill>
                <a:latin typeface="Microsoft YaHei"/>
              </a:rP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686032" y="6327648"/>
            <a:ext cx="502920" cy="530352"/>
          </a:xfrm>
          <a:prstGeom prst="roundRect">
            <a:avLst/>
          </a:prstGeom>
          <a:solidFill>
            <a:srgbClr val="006CBC"/>
          </a:solidFill>
          <a:ln>
            <a:solidFill>
              <a:srgbClr val="006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81560"/>
            <a:ext cx="6812279" cy="4817255"/>
          </a:xfrm>
          <a:prstGeom prst="rect">
            <a:avLst/>
          </a:prstGeom>
          <a:ln w="10160">
            <a:solidFill>
              <a:srgbClr val="D5DFE8"/>
            </a:solidFill>
          </a:ln>
        </p:spPr>
      </p:pic>
      <p:sp>
        <p:nvSpPr>
          <p:cNvPr id="10" name="Rounded Rectangle 9"/>
          <p:cNvSpPr/>
          <p:nvPr/>
        </p:nvSpPr>
        <p:spPr>
          <a:xfrm>
            <a:off x="7589520" y="1298448"/>
            <a:ext cx="1737360" cy="1097280"/>
          </a:xfrm>
          <a:prstGeom prst="roundRect">
            <a:avLst/>
          </a:prstGeom>
          <a:solidFill>
            <a:srgbClr val="F3F7FB"/>
          </a:solidFill>
          <a:ln>
            <a:solidFill>
              <a:srgbClr val="DF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99248" y="1408176"/>
            <a:ext cx="1517904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>
                <a:solidFill>
                  <a:srgbClr val="006CBC"/>
                </a:solidFill>
                <a:latin typeface="Microsoft YaHei"/>
              </a:rPr>
              <a:t>11条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99248" y="1883664"/>
            <a:ext cx="151790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>
                <a:solidFill>
                  <a:srgbClr val="273645"/>
                </a:solidFill>
                <a:latin typeface="Microsoft YaHei"/>
              </a:rPr>
              <a:t>重要生态廊道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55480" y="1298448"/>
            <a:ext cx="1737360" cy="1097280"/>
          </a:xfrm>
          <a:prstGeom prst="roundRect">
            <a:avLst/>
          </a:prstGeom>
          <a:solidFill>
            <a:srgbClr val="F3F7FB"/>
          </a:solidFill>
          <a:ln>
            <a:solidFill>
              <a:srgbClr val="DF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65207" y="1408176"/>
            <a:ext cx="1517904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>
                <a:solidFill>
                  <a:srgbClr val="00B8A4"/>
                </a:solidFill>
                <a:latin typeface="Microsoft YaHei"/>
              </a:rPr>
              <a:t>9条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65207" y="1883664"/>
            <a:ext cx="151790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>
                <a:solidFill>
                  <a:srgbClr val="273645"/>
                </a:solidFill>
                <a:latin typeface="Microsoft YaHei"/>
              </a:rPr>
              <a:t>重点修复廊道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89520" y="2633472"/>
            <a:ext cx="1737360" cy="1097280"/>
          </a:xfrm>
          <a:prstGeom prst="roundRect">
            <a:avLst/>
          </a:prstGeom>
          <a:solidFill>
            <a:srgbClr val="F3F7FB"/>
          </a:solidFill>
          <a:ln>
            <a:solidFill>
              <a:srgbClr val="DF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99248" y="2743200"/>
            <a:ext cx="1517904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>
                <a:solidFill>
                  <a:srgbClr val="F28E2B"/>
                </a:solidFill>
                <a:latin typeface="Microsoft YaHei"/>
              </a:rPr>
              <a:t>45处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99248" y="3218688"/>
            <a:ext cx="151790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>
                <a:solidFill>
                  <a:srgbClr val="273645"/>
                </a:solidFill>
                <a:latin typeface="Microsoft YaHei"/>
              </a:rPr>
              <a:t>障碍点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55480" y="2633472"/>
            <a:ext cx="1737360" cy="1097280"/>
          </a:xfrm>
          <a:prstGeom prst="roundRect">
            <a:avLst/>
          </a:prstGeom>
          <a:solidFill>
            <a:srgbClr val="F3F7FB"/>
          </a:solidFill>
          <a:ln>
            <a:solidFill>
              <a:srgbClr val="DF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65207" y="2743200"/>
            <a:ext cx="1517904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>
                <a:solidFill>
                  <a:srgbClr val="E84A5F"/>
                </a:solidFill>
                <a:latin typeface="Microsoft YaHei"/>
              </a:rPr>
              <a:t>15处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65207" y="3218688"/>
            <a:ext cx="151790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>
                <a:solidFill>
                  <a:srgbClr val="273645"/>
                </a:solidFill>
                <a:latin typeface="Microsoft YaHei"/>
              </a:rPr>
              <a:t>重点修复区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89520" y="4096512"/>
            <a:ext cx="3703320" cy="1517904"/>
          </a:xfrm>
          <a:prstGeom prst="roundRect">
            <a:avLst/>
          </a:prstGeom>
          <a:solidFill>
            <a:srgbClr val="FFFFFF"/>
          </a:solidFill>
          <a:ln>
            <a:solidFill>
              <a:srgbClr val="D9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589520" y="4096512"/>
            <a:ext cx="91440" cy="1517904"/>
          </a:xfrm>
          <a:prstGeom prst="roundRect">
            <a:avLst/>
          </a:prstGeom>
          <a:solidFill>
            <a:srgbClr val="006CBC"/>
          </a:solidFill>
          <a:ln>
            <a:solidFill>
              <a:srgbClr val="006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36408" y="4251960"/>
            <a:ext cx="326440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006CBC"/>
                </a:solidFill>
                <a:latin typeface="Microsoft YaHei"/>
              </a:rPr>
              <a:t>空间管控重点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36408" y="4654296"/>
            <a:ext cx="3264408" cy="832103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>
                <a:solidFill>
                  <a:srgbClr val="273645"/>
                </a:solidFill>
                <a:latin typeface="Microsoft YaHei"/>
              </a:rPr>
              <a:t>太行山、伏牛山、桐柏山—大别山大型源地；郑州—开封都市圈及快速增长节点的扩张边缘。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8.jpeg"/>
          <p:cNvPicPr>
            <a:picLocks noChangeAspect="1"/>
          </p:cNvPicPr>
          <p:nvPr/>
        </p:nvPicPr>
        <p:blipFill>
          <a:blip r:embed="rId2"/>
          <a:srcRect l="28542" r="28542"/>
          <a:stretch>
            <a:fillRect/>
          </a:stretch>
        </p:blipFill>
        <p:spPr>
          <a:xfrm>
            <a:off x="0" y="0"/>
            <a:ext cx="470916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407408" y="0"/>
            <a:ext cx="301752" cy="6858000"/>
          </a:xfrm>
          <a:prstGeom prst="rect">
            <a:avLst/>
          </a:prstGeom>
          <a:solidFill>
            <a:srgbClr val="006CBC"/>
          </a:solidFill>
          <a:ln>
            <a:solidFill>
              <a:srgbClr val="006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0" y="1508760"/>
            <a:ext cx="18288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006CBC"/>
                </a:solidFill>
                <a:latin typeface="Microsoft YaHei"/>
              </a:rPr>
              <a:t>PART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49824" y="1938528"/>
            <a:ext cx="2011680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800" b="1">
                <a:solidFill>
                  <a:srgbClr val="273645"/>
                </a:solidFill>
                <a:latin typeface="Microsoft YaHei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971800"/>
            <a:ext cx="50292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900" b="1">
                <a:solidFill>
                  <a:srgbClr val="273645"/>
                </a:solidFill>
                <a:latin typeface="Microsoft YaHei"/>
              </a:rPr>
              <a:t>研究结论与展望</a:t>
            </a:r>
          </a:p>
        </p:txBody>
      </p:sp>
      <p:sp>
        <p:nvSpPr>
          <p:cNvPr id="7" name="Rectangle 6"/>
          <p:cNvSpPr/>
          <p:nvPr/>
        </p:nvSpPr>
        <p:spPr>
          <a:xfrm>
            <a:off x="5504688" y="3776472"/>
            <a:ext cx="914400" cy="45720"/>
          </a:xfrm>
          <a:prstGeom prst="rect">
            <a:avLst/>
          </a:prstGeom>
          <a:solidFill>
            <a:srgbClr val="006CBC"/>
          </a:solidFill>
          <a:ln>
            <a:solidFill>
              <a:srgbClr val="006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04688" y="4041648"/>
            <a:ext cx="530352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>
                <a:solidFill>
                  <a:srgbClr val="67727C"/>
                </a:solidFill>
                <a:latin typeface="Microsoft YaHei"/>
              </a:rPr>
              <a:t>从区域格局识别走向分区治理与精细化验证</a:t>
            </a:r>
          </a:p>
        </p:txBody>
      </p:sp>
      <p:pic>
        <p:nvPicPr>
          <p:cNvPr id="9" name="Picture 8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5248" y="164592"/>
            <a:ext cx="1572768" cy="428937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CBC"/>
          </a:solidFill>
          <a:ln>
            <a:solidFill>
              <a:srgbClr val="006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237744"/>
            <a:ext cx="886968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006CBC"/>
                </a:solidFill>
                <a:latin typeface="Microsoft YaHei"/>
              </a:rPr>
              <a:t>主要结论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04088"/>
            <a:ext cx="80467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7727C"/>
                </a:solidFill>
                <a:latin typeface="Microsoft YaHei"/>
              </a:rPr>
              <a:t>三个非同步但相互关联的过程</a:t>
            </a:r>
          </a:p>
        </p:txBody>
      </p:sp>
      <p:pic>
        <p:nvPicPr>
          <p:cNvPr id="5" name="Picture 4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5248" y="164592"/>
            <a:ext cx="1572768" cy="42893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75488" y="987552"/>
            <a:ext cx="11155680" cy="22860"/>
          </a:xfrm>
          <a:prstGeom prst="rect">
            <a:avLst/>
          </a:prstGeom>
          <a:solidFill>
            <a:srgbClr val="D7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65408" y="6446520"/>
            <a:ext cx="502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92A0AC"/>
                </a:solidFill>
                <a:latin typeface="Microsoft YaHei"/>
              </a:rPr>
              <a:t>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686032" y="6327648"/>
            <a:ext cx="502920" cy="530352"/>
          </a:xfrm>
          <a:prstGeom prst="roundRect">
            <a:avLst/>
          </a:prstGeom>
          <a:solidFill>
            <a:srgbClr val="006CBC"/>
          </a:solidFill>
          <a:ln>
            <a:solidFill>
              <a:srgbClr val="006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5800" y="1371600"/>
            <a:ext cx="10808208" cy="1243584"/>
          </a:xfrm>
          <a:prstGeom prst="roundRect">
            <a:avLst/>
          </a:prstGeom>
          <a:solidFill>
            <a:srgbClr val="F3F7FB"/>
          </a:solidFill>
          <a:ln>
            <a:solidFill>
              <a:srgbClr val="D9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5800" y="1371600"/>
            <a:ext cx="2084831" cy="1243584"/>
          </a:xfrm>
          <a:prstGeom prst="roundRect">
            <a:avLst/>
          </a:prstGeom>
          <a:solidFill>
            <a:srgbClr val="006CBC"/>
          </a:solidFill>
          <a:ln>
            <a:solidFill>
              <a:srgbClr val="006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" y="1764792"/>
            <a:ext cx="1792224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01 扩张趋缓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1627632"/>
            <a:ext cx="8074152" cy="6583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20" b="0">
                <a:solidFill>
                  <a:srgbClr val="273645"/>
                </a:solidFill>
                <a:latin typeface="Microsoft YaHei"/>
              </a:rPr>
              <a:t>阶段新增建成区由855.25 km²降至576.75 km²；郑州都市圈持续带动，中东部节点城市接续增长。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926080"/>
            <a:ext cx="10808208" cy="1243584"/>
          </a:xfrm>
          <a:prstGeom prst="roundRect">
            <a:avLst/>
          </a:prstGeom>
          <a:solidFill>
            <a:srgbClr val="F3F7FB"/>
          </a:solidFill>
          <a:ln>
            <a:solidFill>
              <a:srgbClr val="D9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85800" y="2926080"/>
            <a:ext cx="2084831" cy="1243584"/>
          </a:xfrm>
          <a:prstGeom prst="roundRect">
            <a:avLst/>
          </a:prstGeom>
          <a:solidFill>
            <a:srgbClr val="00B8A4"/>
          </a:solidFill>
          <a:ln>
            <a:solidFill>
              <a:srgbClr val="00B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" y="3319272"/>
            <a:ext cx="1792224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02 网络重构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3182112"/>
            <a:ext cx="8074152" cy="6583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20" b="0">
                <a:solidFill>
                  <a:srgbClr val="273645"/>
                </a:solidFill>
                <a:latin typeface="Microsoft YaHei"/>
              </a:rPr>
              <a:t>源地数量增至34处，但总面积和平均斑块面积下降；2024年廊道数量与总长度明显回落。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480560"/>
            <a:ext cx="10808208" cy="1243584"/>
          </a:xfrm>
          <a:prstGeom prst="roundRect">
            <a:avLst/>
          </a:prstGeom>
          <a:solidFill>
            <a:srgbClr val="F3F7FB"/>
          </a:solidFill>
          <a:ln>
            <a:solidFill>
              <a:srgbClr val="D9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85800" y="4480560"/>
            <a:ext cx="2084831" cy="1243584"/>
          </a:xfrm>
          <a:prstGeom prst="roundRect">
            <a:avLst/>
          </a:prstGeom>
          <a:solidFill>
            <a:srgbClr val="F28E2B"/>
          </a:solidFill>
          <a:ln>
            <a:solidFill>
              <a:srgbClr val="F28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" y="4873752"/>
            <a:ext cx="1792224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03 风险转向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4736592"/>
            <a:ext cx="8074152" cy="6583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20" b="0">
                <a:solidFill>
                  <a:srgbClr val="273645"/>
                </a:solidFill>
                <a:latin typeface="Microsoft YaHei"/>
              </a:rPr>
              <a:t>99.38%的累计新增建成区位于廊道2 km外，但2 km内占比升至1.00%，局部隔离程度降低。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CBC"/>
          </a:solidFill>
          <a:ln>
            <a:solidFill>
              <a:srgbClr val="006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237744"/>
            <a:ext cx="886968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006CBC"/>
                </a:solidFill>
                <a:latin typeface="Microsoft YaHei"/>
              </a:rPr>
              <a:t>治理启示、创新与展望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04088"/>
            <a:ext cx="80467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7727C"/>
                </a:solidFill>
                <a:latin typeface="Microsoft YaHei"/>
              </a:rPr>
              <a:t>结论转化为可实施的空间管控方向</a:t>
            </a:r>
          </a:p>
        </p:txBody>
      </p:sp>
      <p:pic>
        <p:nvPicPr>
          <p:cNvPr id="5" name="Picture 4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5248" y="164592"/>
            <a:ext cx="1572768" cy="42893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75488" y="987552"/>
            <a:ext cx="11155680" cy="22860"/>
          </a:xfrm>
          <a:prstGeom prst="rect">
            <a:avLst/>
          </a:prstGeom>
          <a:solidFill>
            <a:srgbClr val="D7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65408" y="6446520"/>
            <a:ext cx="502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92A0AC"/>
                </a:solidFill>
                <a:latin typeface="Microsoft YaHei"/>
              </a:rPr>
              <a:t>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686032" y="6327648"/>
            <a:ext cx="502920" cy="530352"/>
          </a:xfrm>
          <a:prstGeom prst="roundRect">
            <a:avLst/>
          </a:prstGeom>
          <a:solidFill>
            <a:srgbClr val="006CBC"/>
          </a:solidFill>
          <a:ln>
            <a:solidFill>
              <a:srgbClr val="006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30352" y="1298448"/>
            <a:ext cx="3493008" cy="1847088"/>
          </a:xfrm>
          <a:prstGeom prst="roundRect">
            <a:avLst/>
          </a:prstGeom>
          <a:solidFill>
            <a:srgbClr val="FFFFFF"/>
          </a:solidFill>
          <a:ln>
            <a:solidFill>
              <a:srgbClr val="D9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30352" y="1298448"/>
            <a:ext cx="91440" cy="1847088"/>
          </a:xfrm>
          <a:prstGeom prst="roundRect">
            <a:avLst/>
          </a:prstGeom>
          <a:solidFill>
            <a:srgbClr val="006CBC"/>
          </a:solidFill>
          <a:ln>
            <a:solidFill>
              <a:srgbClr val="006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453895"/>
            <a:ext cx="3054096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006CBC"/>
                </a:solidFill>
                <a:latin typeface="Microsoft YaHei"/>
              </a:rPr>
              <a:t>治理启示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1856231"/>
            <a:ext cx="3054096" cy="11612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20" b="0">
                <a:solidFill>
                  <a:srgbClr val="273645"/>
                </a:solidFill>
                <a:latin typeface="Microsoft YaHei"/>
              </a:rPr>
              <a:t>保护大型山地源地完整性；控制重要廊道缓冲空间；修复山地—平原过渡带障碍；协同审查城镇开发边界。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298448"/>
            <a:ext cx="3493008" cy="1847088"/>
          </a:xfrm>
          <a:prstGeom prst="roundRect">
            <a:avLst/>
          </a:prstGeom>
          <a:solidFill>
            <a:srgbClr val="FFFFFF"/>
          </a:solidFill>
          <a:ln>
            <a:solidFill>
              <a:srgbClr val="D9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43400" y="1298448"/>
            <a:ext cx="91440" cy="1847088"/>
          </a:xfrm>
          <a:prstGeom prst="roundRect">
            <a:avLst/>
          </a:prstGeom>
          <a:solidFill>
            <a:srgbClr val="00B8A4"/>
          </a:solidFill>
          <a:ln>
            <a:solidFill>
              <a:srgbClr val="00B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90288" y="1453895"/>
            <a:ext cx="3054096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00B8A4"/>
                </a:solidFill>
                <a:latin typeface="Microsoft YaHei"/>
              </a:rPr>
              <a:t>研究创新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0288" y="1856231"/>
            <a:ext cx="3054096" cy="11612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20" b="0">
                <a:solidFill>
                  <a:srgbClr val="273645"/>
                </a:solidFill>
                <a:latin typeface="Microsoft YaHei"/>
              </a:rPr>
              <a:t>统一四期建成区与生态网络；以阶段期初廊道衡量新增建设压力；从直接相交拓展到多距离带暴露。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56448" y="1298448"/>
            <a:ext cx="3493008" cy="1847088"/>
          </a:xfrm>
          <a:prstGeom prst="roundRect">
            <a:avLst/>
          </a:prstGeom>
          <a:solidFill>
            <a:srgbClr val="FFFFFF"/>
          </a:solidFill>
          <a:ln>
            <a:solidFill>
              <a:srgbClr val="D9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156448" y="1298448"/>
            <a:ext cx="91440" cy="1847088"/>
          </a:xfrm>
          <a:prstGeom prst="roundRect">
            <a:avLst/>
          </a:prstGeom>
          <a:solidFill>
            <a:srgbClr val="F28E2B"/>
          </a:solidFill>
          <a:ln>
            <a:solidFill>
              <a:srgbClr val="F28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03336" y="1453895"/>
            <a:ext cx="3054096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F28E2B"/>
                </a:solidFill>
                <a:latin typeface="Microsoft YaHei"/>
              </a:rPr>
              <a:t>研究边界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03336" y="1856231"/>
            <a:ext cx="3054096" cy="11612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20" b="0">
                <a:solidFill>
                  <a:srgbClr val="273645"/>
                </a:solidFill>
                <a:latin typeface="Microsoft YaHei"/>
              </a:rPr>
              <a:t>500 m网格弱化狭窄廊道与穿越点；跨期网络输入变化限制因果归因；距离带不是普适生态阈值。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657600"/>
            <a:ext cx="10844784" cy="1664208"/>
          </a:xfrm>
          <a:prstGeom prst="roundRect">
            <a:avLst/>
          </a:prstGeom>
          <a:solidFill>
            <a:srgbClr val="E8F3FB"/>
          </a:solidFill>
          <a:ln>
            <a:solidFill>
              <a:srgbClr val="E8F3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" y="3977639"/>
            <a:ext cx="14173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006CBC"/>
                </a:solidFill>
                <a:latin typeface="Microsoft YaHei"/>
              </a:rPr>
              <a:t>后续研究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23160" y="3886200"/>
            <a:ext cx="8549640" cy="1097280"/>
          </a:xfrm>
          <a:prstGeom prst="rect">
            <a:avLst/>
          </a:prstGeom>
          <a:noFill/>
        </p:spPr>
        <p:txBody>
          <a:bodyPr wrap="square" lIns="73152" rIns="36576" tIns="36576" bIns="36576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  <a:defRPr sz="1250">
                <a:solidFill>
                  <a:srgbClr val="273645"/>
                </a:solidFill>
                <a:latin typeface="Microsoft YaHei"/>
              </a:defRPr>
            </a:pPr>
            <a:r>
              <a:t>•  引入高分辨率遥感与实地监测，验证河岸带、窄廊道和交通穿越点</a:t>
            </a:r>
          </a:p>
          <a:p>
            <a:pPr>
              <a:lnSpc>
                <a:spcPct val="108000"/>
              </a:lnSpc>
              <a:spcAft>
                <a:spcPts val="600"/>
              </a:spcAft>
              <a:defRPr sz="1250">
                <a:solidFill>
                  <a:srgbClr val="273645"/>
                </a:solidFill>
                <a:latin typeface="Microsoft YaHei"/>
              </a:defRPr>
            </a:pPr>
            <a:r>
              <a:t>•  纳入多物种迁移需求与参数敏感性分析</a:t>
            </a:r>
          </a:p>
          <a:p>
            <a:pPr>
              <a:lnSpc>
                <a:spcPct val="108000"/>
              </a:lnSpc>
              <a:spcAft>
                <a:spcPts val="600"/>
              </a:spcAft>
              <a:defRPr sz="1250">
                <a:solidFill>
                  <a:srgbClr val="273645"/>
                </a:solidFill>
                <a:latin typeface="Microsoft YaHei"/>
              </a:defRPr>
            </a:pPr>
            <a:r>
              <a:t>•  设置固定源地或固定阻力面的对照情景，增强跨期归因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17.jpeg"/>
          <p:cNvPicPr>
            <a:picLocks noChangeAspect="1"/>
          </p:cNvPicPr>
          <p:nvPr/>
        </p:nvPicPr>
        <p:blipFill>
          <a:blip r:embed="rId2"/>
          <a:srcRect l="27167" r="27167"/>
          <a:stretch>
            <a:fillRect/>
          </a:stretch>
        </p:blipFill>
        <p:spPr>
          <a:xfrm>
            <a:off x="7178040" y="0"/>
            <a:ext cx="501091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912864" y="0"/>
            <a:ext cx="329184" cy="6858000"/>
          </a:xfrm>
          <a:prstGeom prst="rect">
            <a:avLst/>
          </a:prstGeom>
          <a:solidFill>
            <a:srgbClr val="006CBC"/>
          </a:solidFill>
          <a:ln>
            <a:solidFill>
              <a:srgbClr val="006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548640"/>
            <a:ext cx="2240280" cy="61098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2304288"/>
            <a:ext cx="557784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>
                <a:solidFill>
                  <a:srgbClr val="273645"/>
                </a:solidFill>
                <a:latin typeface="Microsoft YaHei"/>
              </a:rPr>
              <a:t>恳请各位老师批评指正！</a:t>
            </a:r>
          </a:p>
        </p:txBody>
      </p:sp>
      <p:sp>
        <p:nvSpPr>
          <p:cNvPr id="6" name="Rectangle 5"/>
          <p:cNvSpPr/>
          <p:nvPr/>
        </p:nvSpPr>
        <p:spPr>
          <a:xfrm>
            <a:off x="804672" y="3310128"/>
            <a:ext cx="1078992" cy="54864"/>
          </a:xfrm>
          <a:prstGeom prst="rect">
            <a:avLst/>
          </a:prstGeom>
          <a:solidFill>
            <a:srgbClr val="006CBC"/>
          </a:solidFill>
          <a:ln>
            <a:solidFill>
              <a:srgbClr val="006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3584448"/>
            <a:ext cx="29260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006CBC"/>
                </a:solidFill>
                <a:latin typeface="Microsoft YaHei"/>
              </a:rPr>
              <a:t>THANK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4681728"/>
            <a:ext cx="544068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67727C"/>
                </a:solidFill>
                <a:latin typeface="Microsoft YaHei"/>
              </a:rPr>
              <a:t>汇报人：张国利    指导老师：王伟（副教授）</a:t>
            </a:r>
            <a:br/>
            <a:r>
              <a:t>时间：2026.10.15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TEMPLATE_CATEGORY" val="diagram"/>
  <p:tag name="KSO_WM_TEMPLATE_INDEX" val="20230945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1.0"/>
  <p:tag name="KSO_WM_BEAUTIFY_FLAG" val="#wm#"/>
  <p:tag name="KSO_WM_UNIT_SUBTYPE" val="a"/>
  <p:tag name="KSO_WM_UNIT_PRESET_TEXT" val="单击此处编辑母版文本样式&#10;第二级&#10;第三级&#10;第四级&#10;第五级"/>
  <p:tag name="KSO_WM_UNIT_NOCLEAR" val="0"/>
  <p:tag name="KSO_WM_UNIT_TYPE" val="f"/>
  <p:tag name="KSO_WM_UNIT_INDEX" val="1"/>
  <p:tag name="KSO_WM_UNIT_TEXT_LAYER_COUNT" val="1"/>
  <p:tag name="KSO_WM_TEMPLATE_CATEGORY" val="diagram"/>
  <p:tag name="KSO_WM_TEMPLATE_INDEX" val="20230945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0.xml><?xml version="1.0" encoding="utf-8"?>
<p:tagLst xmlns:p="http://schemas.openxmlformats.org/presentationml/2006/main">
  <p:tag name="KSO_WM_TEMPLATE_SUBCATEGORY" val="0"/>
  <p:tag name="KSO_WM_TEMPLATE_MASTER_TYPE" val="0"/>
  <p:tag name="KSO_WM_TEMPLATE_COLOR_TYPE" val="0"/>
  <p:tag name="KSO_WM_TAG_VERSION" val="3.0"/>
  <p:tag name="KSO_WM_BEAUTIFY_FLAG" val="#wm#"/>
  <p:tag name="KSO_WM_TEMPLATE_CATEGORY" val="diagram"/>
  <p:tag name="KSO_WM_TEMPLATE_INDEX" val="20230945"/>
  <p:tag name="KSO_WM_SPECIAL_SOURCE" val="bdnull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diagram"/>
  <p:tag name="KSO_WM_TEMPLATE_INDEX" val="20234417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diagram"/>
  <p:tag name="KSO_WM_TEMPLATE_INDEX" val="20234417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20.xml><?xml version="1.0" encoding="utf-8"?>
<p:tagLst xmlns:p="http://schemas.openxmlformats.org/presentationml/2006/main">
  <p:tag name="KSO_WM_TEMPLATE_SUBCATEGORY" val="0"/>
  <p:tag name="KSO_WM_TEMPLATE_MASTER_TYPE" val="0"/>
  <p:tag name="KSO_WM_TEMPLATE_COLOR_TYPE" val="0"/>
  <p:tag name="KSO_WM_TAG_VERSION" val="3.0"/>
  <p:tag name="KSO_WM_BEAUTIFY_FLAG" val="#wm#"/>
  <p:tag name="KSO_WM_TEMPLATE_CATEGORY" val="diagram"/>
  <p:tag name="KSO_WM_TEMPLATE_INDEX" val="20234417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diagram"/>
  <p:tag name="KSO_WM_TEMPLATE_INDEX" val="20232454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diagram"/>
  <p:tag name="KSO_WM_TEMPLATE_INDEX" val="20232454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30.xml><?xml version="1.0" encoding="utf-8"?>
<p:tagLst xmlns:p="http://schemas.openxmlformats.org/presentationml/2006/main">
  <p:tag name="KSO_WM_TEMPLATE_SUBCATEGORY" val="0"/>
  <p:tag name="KSO_WM_TEMPLATE_MASTER_TYPE" val="0"/>
  <p:tag name="KSO_WM_TEMPLATE_COLOR_TYPE" val="0"/>
  <p:tag name="KSO_WM_TAG_VERSION" val="3.0"/>
  <p:tag name="KSO_WM_BEAUTIFY_FLAG" val="#wm#"/>
  <p:tag name="KSO_WM_TEMPLATE_CATEGORY" val="diagram"/>
  <p:tag name="KSO_WM_TEMPLATE_INDEX" val="20232454"/>
  <p:tag name="KSO_WM_SPECIAL_SOURCE" val="bdnull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b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TYPE" val="b"/>
  <p:tag name="KSO_WM_UNIT_INDEX" val="1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1.0"/>
  <p:tag name="KSO_WM_BEAUTIFY_FLAG" val="#wm#"/>
  <p:tag name="KSO_WM_UNIT_SUBTYPE" val="a"/>
  <p:tag name="KSO_WM_UNIT_PRESET_TEXT" val="单击此处编辑母版文本样式&#10;第二级&#10;第三级&#10;第四级&#10;第五级"/>
  <p:tag name="KSO_WM_UNIT_NOCLEAR" val="0"/>
  <p:tag name="KSO_WM_UNIT_TYPE" val="f"/>
  <p:tag name="KSO_WM_UNIT_INDEX" val="1"/>
  <p:tag name="KSO_WM_UNIT_TEXT_LAYER_COUNT" val="1"/>
  <p:tag name="KSO_WM_TEMPLATE_CATEGORY" val="custom"/>
  <p:tag name="KSO_WM_TEMPLATE_INDEX" val="20231729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TEMPLATE_CATEGORY" val="custom"/>
  <p:tag name="KSO_WM_TEMPLATE_INDEX" val="20231729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48.xml><?xml version="1.0" encoding="utf-8"?>
<p:tagLst xmlns:p="http://schemas.openxmlformats.org/presentationml/2006/main">
  <p:tag name="KSO_WM_TEMPLATE_SUBCATEGORY" val="0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1729"/>
  <p:tag name="KSO_WM_SPECIAL_SOURCE" val="bdnull"/>
</p:tagLst>
</file>

<file path=ppt/tags/tag167.xml><?xml version="1.0" encoding="utf-8"?>
<p:tagLst xmlns:p="http://schemas.openxmlformats.org/presentationml/2006/main">
  <p:tag name="ISPRING_PRESENTATION_TITLE" val="文明城市"/>
</p:tagLst>
</file>

<file path=ppt/theme/theme1.xml><?xml version="1.0" encoding="utf-8"?>
<a:theme xmlns:a="http://schemas.openxmlformats.org/drawingml/2006/main" name="包图主题2">
  <a:themeElements>
    <a:clrScheme name="自定义 179">
      <a:dk1>
        <a:srgbClr val="000000"/>
      </a:dk1>
      <a:lt1>
        <a:srgbClr val="FFFFFF"/>
      </a:lt1>
      <a:dk2>
        <a:srgbClr val="768395"/>
      </a:dk2>
      <a:lt2>
        <a:srgbClr val="F0F0F0"/>
      </a:lt2>
      <a:accent1>
        <a:srgbClr val="FF5049"/>
      </a:accent1>
      <a:accent2>
        <a:srgbClr val="FFA100"/>
      </a:accent2>
      <a:accent3>
        <a:srgbClr val="4862F4"/>
      </a:accent3>
      <a:accent4>
        <a:srgbClr val="FDC800"/>
      </a:accent4>
      <a:accent5>
        <a:srgbClr val="A6A6A6"/>
      </a:accent5>
      <a:accent6>
        <a:srgbClr val="C5C5C5"/>
      </a:accent6>
      <a:hlink>
        <a:srgbClr val="046DA3"/>
      </a:hlink>
      <a:folHlink>
        <a:srgbClr val="BFBFBF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FEFFFF"/>
      </a:lt2>
      <a:accent1>
        <a:srgbClr val="376FFF"/>
      </a:accent1>
      <a:accent2>
        <a:srgbClr val="17D594"/>
      </a:accent2>
      <a:accent3>
        <a:srgbClr val="FFC000"/>
      </a:accent3>
      <a:accent4>
        <a:srgbClr val="FF7429"/>
      </a:accent4>
      <a:accent5>
        <a:srgbClr val="F84949"/>
      </a:accent5>
      <a:accent6>
        <a:srgbClr val="8830FE"/>
      </a:accent6>
      <a:hlink>
        <a:srgbClr val="304FFE"/>
      </a:hlink>
      <a:folHlink>
        <a:srgbClr val="492067"/>
      </a:folHlink>
    </a:clrScheme>
    <a:fontScheme name="主题字体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主题​​">
  <a:themeElements>
    <a:clrScheme name="自定义 16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76FFF"/>
      </a:accent1>
      <a:accent2>
        <a:srgbClr val="75BD42"/>
      </a:accent2>
      <a:accent3>
        <a:srgbClr val="F2BA02"/>
      </a:accent3>
      <a:accent4>
        <a:srgbClr val="EE822F"/>
      </a:accent4>
      <a:accent5>
        <a:srgbClr val="30C0B4"/>
      </a:accent5>
      <a:accent6>
        <a:srgbClr val="F31161"/>
      </a:accent6>
      <a:hlink>
        <a:srgbClr val="0026E5"/>
      </a:hlink>
      <a:folHlink>
        <a:srgbClr val="7E1FAD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bIns="0" rtlCol="0" anchor="ctr">
        <a:noAutofit/>
      </a:bodyPr>
      <a:lstStyle>
        <a:defPPr algn="l">
          <a:defRPr lang="zh-CN" altLang="en-US" sz="2400" kern="0" dirty="0">
            <a:solidFill>
              <a:schemeClr val="dk1">
                <a:lumMod val="85000"/>
                <a:lumOff val="15000"/>
              </a:schemeClr>
            </a:solidFill>
            <a:latin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Office 主题​​">
  <a:themeElements>
    <a:clrScheme name="UI配色">
      <a:dk1>
        <a:sysClr val="windowText" lastClr="000000"/>
      </a:dk1>
      <a:lt1>
        <a:sysClr val="window" lastClr="FFFFFF"/>
      </a:lt1>
      <a:dk2>
        <a:srgbClr val="5A5A5A"/>
      </a:dk2>
      <a:lt2>
        <a:srgbClr val="F7F8FF"/>
      </a:lt2>
      <a:accent1>
        <a:srgbClr val="1C4BE6"/>
      </a:accent1>
      <a:accent2>
        <a:srgbClr val="4985FB"/>
      </a:accent2>
      <a:accent3>
        <a:srgbClr val="2EC0FF"/>
      </a:accent3>
      <a:accent4>
        <a:srgbClr val="1C79E6"/>
      </a:accent4>
      <a:accent5>
        <a:srgbClr val="9E62FF"/>
      </a:accent5>
      <a:accent6>
        <a:srgbClr val="5552E8"/>
      </a:accent6>
      <a:hlink>
        <a:srgbClr val="658BD5"/>
      </a:hlink>
      <a:folHlink>
        <a:srgbClr val="A16AA5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3_Office 主题​​">
  <a:themeElements>
    <a:clrScheme name="蓝色配色">
      <a:dk1>
        <a:srgbClr val="000000"/>
      </a:dk1>
      <a:lt1>
        <a:srgbClr val="FFFFFF"/>
      </a:lt1>
      <a:dk2>
        <a:srgbClr val="001548"/>
      </a:dk2>
      <a:lt2>
        <a:srgbClr val="F5F7FF"/>
      </a:lt2>
      <a:accent1>
        <a:srgbClr val="376FFF"/>
      </a:accent1>
      <a:accent2>
        <a:srgbClr val="FF7429"/>
      </a:accent2>
      <a:accent3>
        <a:srgbClr val="8830FE"/>
      </a:accent3>
      <a:accent4>
        <a:srgbClr val="17D594"/>
      </a:accent4>
      <a:accent5>
        <a:srgbClr val="F84949"/>
      </a:accent5>
      <a:accent6>
        <a:srgbClr val="FFC000"/>
      </a:accent6>
      <a:hlink>
        <a:srgbClr val="304FFE"/>
      </a:hlink>
      <a:folHlink>
        <a:srgbClr val="492067"/>
      </a:folHlink>
    </a:clrScheme>
    <a:fontScheme name="主题字体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包图主题2</Template>
  <TotalTime>0</TotalTime>
  <Words>2057</Words>
  <Application>WPS 演示</Application>
  <PresentationFormat>宽屏</PresentationFormat>
  <Paragraphs>211</Paragraphs>
  <Slides>16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16</vt:i4>
      </vt:variant>
    </vt:vector>
  </HeadingPairs>
  <TitlesOfParts>
    <vt:vector size="42" baseType="lpstr">
      <vt:lpstr>Arial</vt:lpstr>
      <vt:lpstr>宋体</vt:lpstr>
      <vt:lpstr>Wingdings</vt:lpstr>
      <vt:lpstr>字魂59号-创粗黑</vt:lpstr>
      <vt:lpstr>黑体</vt:lpstr>
      <vt:lpstr>微软雅黑</vt:lpstr>
      <vt:lpstr>Wingdings</vt:lpstr>
      <vt:lpstr>Arial</vt:lpstr>
      <vt:lpstr>EngraversGothic BT</vt:lpstr>
      <vt:lpstr>Yu Gothic UI</vt:lpstr>
      <vt:lpstr>Helvetica Light</vt:lpstr>
      <vt:lpstr>+中文正文</vt:lpstr>
      <vt:lpstr>Segoe Print</vt:lpstr>
      <vt:lpstr>Times New Roman</vt:lpstr>
      <vt:lpstr>Arial Unicode MS</vt:lpstr>
      <vt:lpstr>Calibri</vt:lpstr>
      <vt:lpstr>Helvetica Light</vt:lpstr>
      <vt:lpstr>字魂59号-创粗黑</vt:lpstr>
      <vt:lpstr>字魂创粗黑</vt:lpstr>
      <vt:lpstr>Retro Cute Light</vt:lpstr>
      <vt:lpstr>华文隶书</vt:lpstr>
      <vt:lpstr>包图主题2</vt:lpstr>
      <vt:lpstr>Office 主题​​</vt:lpstr>
      <vt:lpstr>1_Office 主题​​</vt:lpstr>
      <vt:lpstr>2_Office 主题​​</vt:lpstr>
      <vt:lpstr>3_Office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中原城市群建成区变迁与景观生态安全格局演变</dc:title>
  <dc:creator>张国利</dc:creator>
  <cp:lastModifiedBy>张</cp:lastModifiedBy>
  <cp:revision>76</cp:revision>
  <dcterms:created xsi:type="dcterms:W3CDTF">2017-09-19T03:01:00Z</dcterms:created>
  <dcterms:modified xsi:type="dcterms:W3CDTF">2026-02-01T10:50:02Z</dcterms:modified>
  <dc:subject>学术汇报PPT</dc:subject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41F593BEF6B94CB293C274D2E3EDE7A8_13</vt:lpwstr>
  </property>
  <property fmtid="{D5CDD505-2E9C-101B-9397-08002B2CF9AE}" pid="3" name="KSOProductBuildVer">
    <vt:lpwstr>2052-12.1.0.24657</vt:lpwstr>
  </property>
</Properties>
</file>